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663399"/>
        </a:solidFill>
        <a:effectLst/>
      </p:bgPr>
    </p:bg>
    <p:spTree>
      <p:nvGrpSpPr>
        <p:cNvPr id="1" name=""/>
        <p:cNvGrpSpPr/>
        <p:nvPr/>
      </p:nvGrpSpPr>
      <p:grpSpPr/>
      <p:sp>
        <p:nvSpPr>
          <p:cNvPr id="2" name="Rectangle 1"/>
          <p:cNvSpPr/>
          <p:nvPr/>
        </p:nvSpPr>
        <p:spPr>
          <a:xfrm>
            <a:off x="0" y="0"/>
            <a:ext cx="9144000" cy="73152"/>
          </a:xfrm>
          <a:prstGeom prst="rect">
            <a:avLst/>
          </a:prstGeom>
          <a:solidFill>
            <a:srgbClr val="663399"/>
          </a:solidFill>
          <a:ln>
            <a:solidFill>
              <a:srgbClr val="663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Times New Roman"/>
              </a:defRPr>
            </a:pPr>
            <a:r>
              <a:t>react</a:t>
            </a:r>
          </a:p>
        </p:txBody>
      </p:sp>
      <p:sp>
        <p:nvSpPr>
          <p:cNvPr id="4" name="TextBox 3"/>
          <p:cNvSpPr txBox="1"/>
          <p:nvPr/>
        </p:nvSpPr>
        <p:spPr>
          <a:xfrm>
            <a:off x="457200" y="3429000"/>
            <a:ext cx="8229600" cy="914400"/>
          </a:xfrm>
          <a:prstGeom prst="rect">
            <a:avLst/>
          </a:prstGeom>
          <a:noFill/>
        </p:spPr>
        <p:txBody>
          <a:bodyPr wrap="square">
            <a:spAutoFit/>
          </a:bodyPr>
          <a:lstStyle/>
          <a:p>
            <a:pPr algn="ctr">
              <a:defRPr sz="2400">
                <a:solidFill>
                  <a:srgbClr val="DCC8F0"/>
                </a:solidFill>
                <a:latin typeface="Times New Roman"/>
              </a:defRPr>
            </a:pPr>
            <a:r>
              <a:t>Introduction to ReactJS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EBFA"/>
        </a:solidFill>
        <a:effectLst/>
      </p:bgPr>
    </p:bg>
    <p:spTree>
      <p:nvGrpSpPr>
        <p:cNvPr id="1" name=""/>
        <p:cNvGrpSpPr/>
        <p:nvPr/>
      </p:nvGrpSpPr>
      <p:grpSpPr/>
      <p:sp>
        <p:nvSpPr>
          <p:cNvPr id="2" name="Rectangle 1"/>
          <p:cNvSpPr/>
          <p:nvPr/>
        </p:nvSpPr>
        <p:spPr>
          <a:xfrm>
            <a:off x="0" y="0"/>
            <a:ext cx="9144000" cy="73152"/>
          </a:xfrm>
          <a:prstGeom prst="rect">
            <a:avLst/>
          </a:prstGeom>
          <a:solidFill>
            <a:srgbClr val="663399"/>
          </a:solidFill>
          <a:ln>
            <a:solidFill>
              <a:srgbClr val="663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E6D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663399"/>
                </a:solidFill>
                <a:latin typeface="Times New Roman"/>
              </a:defRPr>
            </a:pPr>
            <a:r>
              <a:t>Introduction to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1000"/>
              </a:spcAft>
              <a:defRPr sz="1800">
                <a:solidFill>
                  <a:srgbClr val="414141"/>
                </a:solidFill>
                <a:latin typeface="Times New Roman"/>
              </a:defRPr>
            </a:pPr>
            <a:r>
              <a:t>ReactJS is a JavaScript library used for building user interfaces and can be used for developing complex, interactive web and mobile applications. It was developed by Facebook (now Meta) and is maintained by Facebook and a community of developers.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EBFA"/>
        </a:solidFill>
        <a:effectLst/>
      </p:bgPr>
    </p:bg>
    <p:spTree>
      <p:nvGrpSpPr>
        <p:cNvPr id="1" name=""/>
        <p:cNvGrpSpPr/>
        <p:nvPr/>
      </p:nvGrpSpPr>
      <p:grpSpPr/>
      <p:sp>
        <p:nvSpPr>
          <p:cNvPr id="2" name="Rectangle 1"/>
          <p:cNvSpPr/>
          <p:nvPr/>
        </p:nvSpPr>
        <p:spPr>
          <a:xfrm>
            <a:off x="0" y="0"/>
            <a:ext cx="9144000" cy="73152"/>
          </a:xfrm>
          <a:prstGeom prst="rect">
            <a:avLst/>
          </a:prstGeom>
          <a:solidFill>
            <a:srgbClr val="663399"/>
          </a:solidFill>
          <a:ln>
            <a:solidFill>
              <a:srgbClr val="663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E6D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663399"/>
                </a:solidFill>
                <a:latin typeface="Times New Roman"/>
              </a:defRPr>
            </a:pPr>
            <a:r>
              <a:t>Key Features of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4B4B4B"/>
                </a:solidFill>
                <a:latin typeface="Times New Roman"/>
              </a:defRPr>
            </a:pPr>
            <a:r>
              <a:t>Component-Based Architecture: ReactJS uses a component-based architecture, where the application is broken down into smaller, reusable components.</a:t>
            </a:r>
          </a:p>
          <a:p>
            <a:pPr>
              <a:lnSpc>
                <a:spcPct val="115000"/>
              </a:lnSpc>
              <a:spcAft>
                <a:spcPts val="600"/>
              </a:spcAft>
              <a:defRPr sz="1800">
                <a:solidFill>
                  <a:srgbClr val="4B4B4B"/>
                </a:solidFill>
                <a:latin typeface="Times New Roman"/>
              </a:defRPr>
            </a:pPr>
            <a:r>
              <a:t>Virtual DOM: ReactJS uses a virtual DOM (a lightweight in-memory representation of the real DOM) to optimize rendering and reduce the number of DOM mutations.</a:t>
            </a:r>
          </a:p>
          <a:p>
            <a:pPr>
              <a:lnSpc>
                <a:spcPct val="115000"/>
              </a:lnSpc>
              <a:spcAft>
                <a:spcPts val="600"/>
              </a:spcAft>
              <a:defRPr sz="1800">
                <a:solidFill>
                  <a:srgbClr val="4B4B4B"/>
                </a:solidFill>
                <a:latin typeface="Times New Roman"/>
              </a:defRPr>
            </a:pPr>
            <a:r>
              <a:t>Declarative Programming: ReactJS uses a declarative programming style, where the developer describes what the UI should look like, and ReactJS takes care of the details.</a:t>
            </a:r>
          </a:p>
          <a:p>
            <a:pPr>
              <a:lnSpc>
                <a:spcPct val="115000"/>
              </a:lnSpc>
              <a:spcAft>
                <a:spcPts val="600"/>
              </a:spcAft>
              <a:defRPr sz="1800">
                <a:solidFill>
                  <a:srgbClr val="4B4B4B"/>
                </a:solidFill>
                <a:latin typeface="Times New Roman"/>
              </a:defRPr>
            </a:pPr>
            <a:r>
              <a:t>One-Way Data Binding: ReactJS uses a one-way data binding approach, where the component's state is updated, and the UI is re-rendered accordingly.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EBFA"/>
        </a:solidFill>
        <a:effectLst/>
      </p:bgPr>
    </p:bg>
    <p:spTree>
      <p:nvGrpSpPr>
        <p:cNvPr id="1" name=""/>
        <p:cNvGrpSpPr/>
        <p:nvPr/>
      </p:nvGrpSpPr>
      <p:grpSpPr/>
      <p:sp>
        <p:nvSpPr>
          <p:cNvPr id="2" name="Rectangle 1"/>
          <p:cNvSpPr/>
          <p:nvPr/>
        </p:nvSpPr>
        <p:spPr>
          <a:xfrm>
            <a:off x="0" y="0"/>
            <a:ext cx="9144000" cy="73152"/>
          </a:xfrm>
          <a:prstGeom prst="rect">
            <a:avLst/>
          </a:prstGeom>
          <a:solidFill>
            <a:srgbClr val="663399"/>
          </a:solidFill>
          <a:ln>
            <a:solidFill>
              <a:srgbClr val="663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E6D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663399"/>
                </a:solidFill>
                <a:latin typeface="Times New Roman"/>
              </a:defRPr>
            </a:pPr>
            <a:r>
              <a:t>ReactJS Components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2000" b="1">
                <a:solidFill>
                  <a:srgbClr val="9678BE"/>
                </a:solidFill>
                <a:latin typeface="Times New Roman"/>
              </a:defRPr>
            </a:pPr>
            <a:r>
              <a:t>Functional Components</a:t>
            </a:r>
          </a:p>
          <a:p>
            <a:pPr>
              <a:lnSpc>
                <a:spcPct val="115000"/>
              </a:lnSpc>
              <a:spcAft>
                <a:spcPts val="800"/>
              </a:spcAft>
              <a:defRPr sz="1800">
                <a:solidFill>
                  <a:srgbClr val="414141"/>
                </a:solidFill>
                <a:latin typeface="Times New Roman"/>
              </a:defRPr>
            </a:pPr>
            <a:r>
              <a:t>Functional components are pure functions that take in props and return JSX elements. They are stateless and do not have their own lifecycle methods.</a:t>
            </a:r>
          </a:p>
          <a:p>
            <a:pPr>
              <a:lnSpc>
                <a:spcPct val="115000"/>
              </a:lnSpc>
              <a:spcAft>
                <a:spcPts val="600"/>
              </a:spcAft>
              <a:defRPr sz="2000" b="1">
                <a:solidFill>
                  <a:srgbClr val="9678BE"/>
                </a:solidFill>
                <a:latin typeface="Times New Roman"/>
              </a:defRPr>
            </a:pPr>
            <a:r>
              <a:t>Class Components</a:t>
            </a:r>
          </a:p>
          <a:p>
            <a:pPr>
              <a:lnSpc>
                <a:spcPct val="115000"/>
              </a:lnSpc>
              <a:spcAft>
                <a:spcPts val="800"/>
              </a:spcAft>
              <a:defRPr sz="1800">
                <a:solidFill>
                  <a:srgbClr val="414141"/>
                </a:solidFill>
                <a:latin typeface="Times New Roman"/>
              </a:defRPr>
            </a:pPr>
            <a:r>
              <a:t>Class components are classes that extend the React.Component class. They have their own lifecycle methods and can have their own state.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EBFA"/>
        </a:solidFill>
        <a:effectLst/>
      </p:bgPr>
    </p:bg>
    <p:spTree>
      <p:nvGrpSpPr>
        <p:cNvPr id="1" name=""/>
        <p:cNvGrpSpPr/>
        <p:nvPr/>
      </p:nvGrpSpPr>
      <p:grpSpPr/>
      <p:sp>
        <p:nvSpPr>
          <p:cNvPr id="2" name="Rectangle 1"/>
          <p:cNvSpPr/>
          <p:nvPr/>
        </p:nvSpPr>
        <p:spPr>
          <a:xfrm>
            <a:off x="0" y="0"/>
            <a:ext cx="9144000" cy="73152"/>
          </a:xfrm>
          <a:prstGeom prst="rect">
            <a:avLst/>
          </a:prstGeom>
          <a:solidFill>
            <a:srgbClr val="663399"/>
          </a:solidFill>
          <a:ln>
            <a:solidFill>
              <a:srgbClr val="663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E6D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663399"/>
                </a:solidFill>
                <a:latin typeface="Times New Roman"/>
              </a:defRPr>
            </a:pPr>
            <a:r>
              <a:t>ReactJS Lifecycle Methods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4B4B4B"/>
                </a:solidFill>
                <a:latin typeface="Times New Roman"/>
              </a:defRPr>
            </a:pPr>
            <a:r>
              <a:t>Mounting: The process of rendering a component to the DOM for the first time.</a:t>
            </a:r>
          </a:p>
          <a:p>
            <a:pPr>
              <a:lnSpc>
                <a:spcPct val="115000"/>
              </a:lnSpc>
              <a:spcAft>
                <a:spcPts val="600"/>
              </a:spcAft>
              <a:defRPr sz="1800">
                <a:solidFill>
                  <a:srgbClr val="4B4B4B"/>
                </a:solidFill>
                <a:latin typeface="Times New Roman"/>
              </a:defRPr>
            </a:pPr>
            <a:r>
              <a:t>Updating: The process of re-rendering a component when its state or props change.</a:t>
            </a:r>
          </a:p>
          <a:p>
            <a:pPr>
              <a:lnSpc>
                <a:spcPct val="115000"/>
              </a:lnSpc>
              <a:spcAft>
                <a:spcPts val="600"/>
              </a:spcAft>
              <a:defRPr sz="1800">
                <a:solidFill>
                  <a:srgbClr val="4B4B4B"/>
                </a:solidFill>
                <a:latin typeface="Times New Roman"/>
              </a:defRPr>
            </a:pPr>
            <a:r>
              <a:t>Unmounting: The process of removing a component from the DOM.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EBFA"/>
        </a:solidFill>
        <a:effectLst/>
      </p:bgPr>
    </p:bg>
    <p:spTree>
      <p:nvGrpSpPr>
        <p:cNvPr id="1" name=""/>
        <p:cNvGrpSpPr/>
        <p:nvPr/>
      </p:nvGrpSpPr>
      <p:grpSpPr/>
      <p:sp>
        <p:nvSpPr>
          <p:cNvPr id="2" name="Rectangle 1"/>
          <p:cNvSpPr/>
          <p:nvPr/>
        </p:nvSpPr>
        <p:spPr>
          <a:xfrm>
            <a:off x="0" y="0"/>
            <a:ext cx="9144000" cy="73152"/>
          </a:xfrm>
          <a:prstGeom prst="rect">
            <a:avLst/>
          </a:prstGeom>
          <a:solidFill>
            <a:srgbClr val="663399"/>
          </a:solidFill>
          <a:ln>
            <a:solidFill>
              <a:srgbClr val="663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E6D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663399"/>
                </a:solidFill>
                <a:latin typeface="Times New Roman"/>
              </a:defRPr>
            </a:pPr>
            <a:r>
              <a:t>ReactJS State and Props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1800">
                <a:solidFill>
                  <a:srgbClr val="4B4B4B"/>
                </a:solidFill>
                <a:latin typeface="Times New Roman"/>
              </a:defRPr>
            </a:pPr>
            <a:r>
              <a:t>State: The state of a component is an object that stores the component's data.</a:t>
            </a:r>
          </a:p>
          <a:p>
            <a:pPr>
              <a:lnSpc>
                <a:spcPct val="115000"/>
              </a:lnSpc>
              <a:spcAft>
                <a:spcPts val="800"/>
              </a:spcAft>
              <a:defRPr sz="1800">
                <a:solidFill>
                  <a:srgbClr val="4B4B4B"/>
                </a:solidFill>
                <a:latin typeface="Times New Roman"/>
              </a:defRPr>
            </a:pPr>
            <a:r>
              <a:t>Props: Props are short for "properties" and are read-only values passed from a parent component to a child component.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