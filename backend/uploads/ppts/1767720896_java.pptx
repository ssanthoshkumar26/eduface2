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a:defRPr>
            </a:pPr>
            <a:r>
              <a:t>java</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E6FA"/>
                </a:solidFill>
                <a:latin typeface="Calibri"/>
              </a:defRPr>
            </a:pPr>
            <a:r>
              <a:t>Java: A Comprehensive Overview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Java: A Comprehensive Overview</a:t>
            </a:r>
          </a:p>
        </p:txBody>
      </p:sp>
      <p:sp>
        <p:nvSpPr>
          <p:cNvPr id="5" name="TextBox 4"/>
          <p:cNvSpPr txBox="1"/>
          <p:nvPr/>
        </p:nvSpPr>
        <p:spPr>
          <a:xfrm>
            <a:off x="457200" y="1463039"/>
            <a:ext cx="8229600" cy="4663440"/>
          </a:xfrm>
          <a:prstGeom prst="rect">
            <a:avLst/>
          </a:prstGeom>
          <a:noFill/>
        </p:spPr>
        <p:txBody>
          <a:bodyPr wrap="square" anchor="t">
            <a:no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Introduction to Java</a:t>
            </a:r>
          </a:p>
        </p:txBody>
      </p:sp>
      <p:pic>
        <p:nvPicPr>
          <p:cNvPr id="5" name="Picture 4" descr="image.jpg"/>
          <p:cNvPicPr>
            <a:picLocks noChangeAspect="1"/>
          </p:cNvPicPr>
          <p:nvPr/>
        </p:nvPicPr>
        <p:blipFill>
          <a:blip r:embed="rId2"/>
          <a:stretch>
            <a:fillRect/>
          </a:stretch>
        </p:blipFill>
        <p:spPr>
          <a:xfrm>
            <a:off x="5486400" y="1463039"/>
            <a:ext cx="2926080" cy="3840480"/>
          </a:xfrm>
          <a:prstGeom prst="rect">
            <a:avLst/>
          </a:prstGeom>
        </p:spPr>
      </p:pic>
      <p:sp>
        <p:nvSpPr>
          <p:cNvPr id="6" name="TextBox 5"/>
          <p:cNvSpPr txBox="1"/>
          <p:nvPr/>
        </p:nvSpPr>
        <p:spPr>
          <a:xfrm>
            <a:off x="457200" y="1463039"/>
            <a:ext cx="4389120" cy="4663440"/>
          </a:xfrm>
          <a:prstGeom prst="rect">
            <a:avLst/>
          </a:prstGeom>
          <a:noFill/>
        </p:spPr>
        <p:txBody>
          <a:bodyPr wrap="square" anchor="t">
            <a:noAutofit/>
          </a:bodyPr>
          <a:lstStyle/>
          <a:p>
            <a:pPr>
              <a:lnSpc>
                <a:spcPct val="115000"/>
              </a:lnSpc>
              <a:spcAft>
                <a:spcPts val="700"/>
              </a:spcAft>
              <a:defRPr sz="1250">
                <a:solidFill>
                  <a:srgbClr val="3C3C3C"/>
                </a:solidFill>
                <a:latin typeface="Calibri"/>
              </a:defRPr>
            </a:pPr>
            <a:r>
              <a:t>Open-source programming language developed by Sun Microsystems (now owned by Oracle) in the mid-1990s.</a:t>
            </a:r>
          </a:p>
          <a:p>
            <a:pPr>
              <a:lnSpc>
                <a:spcPct val="115000"/>
              </a:lnSpc>
              <a:spcAft>
                <a:spcPts val="700"/>
              </a:spcAft>
              <a:defRPr sz="1250">
                <a:solidFill>
                  <a:srgbClr val="3C3C3C"/>
                </a:solidFill>
                <a:latin typeface="Calibri"/>
              </a:defRPr>
            </a:pPr>
            <a:r>
              <a:t>Designed for writing robust, portable, and secure applications on a wide variety of platforms.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Characteristics of Java</a:t>
            </a:r>
          </a:p>
        </p:txBody>
      </p:sp>
      <p:pic>
        <p:nvPicPr>
          <p:cNvPr id="5" name="Picture 4" descr="image.jpg"/>
          <p:cNvPicPr>
            <a:picLocks noChangeAspect="1"/>
          </p:cNvPicPr>
          <p:nvPr/>
        </p:nvPicPr>
        <p:blipFill>
          <a:blip r:embed="rId2"/>
          <a:stretch>
            <a:fillRect/>
          </a:stretch>
        </p:blipFill>
        <p:spPr>
          <a:xfrm>
            <a:off x="5486400" y="1463039"/>
            <a:ext cx="2926080" cy="3840480"/>
          </a:xfrm>
          <a:prstGeom prst="rect">
            <a:avLst/>
          </a:prstGeom>
        </p:spPr>
      </p:pic>
      <p:sp>
        <p:nvSpPr>
          <p:cNvPr id="6" name="TextBox 5"/>
          <p:cNvSpPr txBox="1"/>
          <p:nvPr/>
        </p:nvSpPr>
        <p:spPr>
          <a:xfrm>
            <a:off x="457200" y="1463039"/>
            <a:ext cx="4389120" cy="4663440"/>
          </a:xfrm>
          <a:prstGeom prst="rect">
            <a:avLst/>
          </a:prstGeom>
          <a:noFill/>
        </p:spPr>
        <p:txBody>
          <a:bodyPr wrap="square" anchor="t">
            <a:noAutofit/>
          </a:bodyPr>
          <a:lstStyle/>
          <a:p>
            <a:pPr>
              <a:lnSpc>
                <a:spcPct val="115000"/>
              </a:lnSpc>
              <a:spcAft>
                <a:spcPts val="300"/>
              </a:spcAft>
              <a:defRPr sz="1200" b="1">
                <a:solidFill>
                  <a:srgbClr val="4678AA"/>
                </a:solidFill>
                <a:latin typeface="Calibri"/>
              </a:defRPr>
            </a:pPr>
            <a:r>
              <a:t>Platform Independent</a:t>
            </a:r>
          </a:p>
          <a:p>
            <a:pPr>
              <a:lnSpc>
                <a:spcPct val="115000"/>
              </a:lnSpc>
              <a:spcAft>
                <a:spcPts val="300"/>
              </a:spcAft>
              <a:defRPr sz="1050">
                <a:solidFill>
                  <a:srgbClr val="3C3C3C"/>
                </a:solidFill>
                <a:latin typeface="Calibri"/>
              </a:defRPr>
            </a:pPr>
            <a:r>
              <a:t>Java is compiled into bytecode, which can run on any device that has a Java Virtual Machine (JVM).</a:t>
            </a:r>
          </a:p>
          <a:p>
            <a:pPr>
              <a:lnSpc>
                <a:spcPct val="115000"/>
              </a:lnSpc>
              <a:spcAft>
                <a:spcPts val="300"/>
              </a:spcAft>
              <a:defRPr sz="1050">
                <a:solidFill>
                  <a:srgbClr val="3C3C3C"/>
                </a:solidFill>
                <a:latin typeface="Calibri"/>
              </a:defRPr>
            </a:pPr>
            <a:r>
              <a:t>This allows Java programs to run on multiple platforms without modification.</a:t>
            </a:r>
          </a:p>
          <a:p>
            <a:pPr>
              <a:lnSpc>
                <a:spcPct val="115000"/>
              </a:lnSpc>
              <a:spcAft>
                <a:spcPts val="300"/>
              </a:spcAft>
              <a:defRPr sz="1200" b="1">
                <a:solidFill>
                  <a:srgbClr val="4678AA"/>
                </a:solidFill>
                <a:latin typeface="Calibri"/>
              </a:defRPr>
            </a:pPr>
            <a:r>
              <a:t>Object-Oriented Programming (OOP)</a:t>
            </a:r>
          </a:p>
          <a:p>
            <a:pPr>
              <a:lnSpc>
                <a:spcPct val="115000"/>
              </a:lnSpc>
              <a:spcAft>
                <a:spcPts val="300"/>
              </a:spcAft>
              <a:defRPr sz="1050">
                <a:solidFill>
                  <a:srgbClr val="3C3C3C"/>
                </a:solidFill>
                <a:latin typeface="Calibri"/>
              </a:defRPr>
            </a:pPr>
            <a:r>
              <a:t>Java follows OOP principles such as encapsulation, inheritance, polymorphism, and abstraction.</a:t>
            </a:r>
          </a:p>
          <a:p>
            <a:pPr>
              <a:lnSpc>
                <a:spcPct val="115000"/>
              </a:lnSpc>
              <a:spcAft>
                <a:spcPts val="300"/>
              </a:spcAft>
              <a:defRPr sz="1200" b="1">
                <a:solidFill>
                  <a:srgbClr val="4678AA"/>
                </a:solidFill>
                <a:latin typeface="Calibri"/>
              </a:defRPr>
            </a:pPr>
            <a:r>
              <a:t>Simple and Easy to Learn</a:t>
            </a:r>
          </a:p>
          <a:p>
            <a:pPr>
              <a:lnSpc>
                <a:spcPct val="115000"/>
              </a:lnSpc>
              <a:spcAft>
                <a:spcPts val="300"/>
              </a:spcAft>
              <a:defRPr sz="1050">
                <a:solidFill>
                  <a:srgbClr val="3C3C3C"/>
                </a:solidFill>
                <a:latin typeface="Calibri"/>
              </a:defRPr>
            </a:pPr>
            <a:r>
              <a:t>Java has a simple syntax similar to C++ and Python, making it easy for beginners to learn.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Java Development Environment (JDE)</a:t>
            </a:r>
          </a:p>
        </p:txBody>
      </p:sp>
      <p:pic>
        <p:nvPicPr>
          <p:cNvPr id="5" name="Picture 4" descr="image.jpg"/>
          <p:cNvPicPr>
            <a:picLocks noChangeAspect="1"/>
          </p:cNvPicPr>
          <p:nvPr/>
        </p:nvPicPr>
        <p:blipFill>
          <a:blip r:embed="rId2"/>
          <a:stretch>
            <a:fillRect/>
          </a:stretch>
        </p:blipFill>
        <p:spPr>
          <a:xfrm>
            <a:off x="5486400" y="1463039"/>
            <a:ext cx="2926080" cy="3840480"/>
          </a:xfrm>
          <a:prstGeom prst="rect">
            <a:avLst/>
          </a:prstGeom>
        </p:spPr>
      </p:pic>
      <p:sp>
        <p:nvSpPr>
          <p:cNvPr id="6" name="TextBox 5"/>
          <p:cNvSpPr txBox="1"/>
          <p:nvPr/>
        </p:nvSpPr>
        <p:spPr>
          <a:xfrm>
            <a:off x="457200" y="1463039"/>
            <a:ext cx="4389120" cy="4663440"/>
          </a:xfrm>
          <a:prstGeom prst="rect">
            <a:avLst/>
          </a:prstGeom>
          <a:noFill/>
        </p:spPr>
        <p:txBody>
          <a:bodyPr wrap="square" anchor="t">
            <a:noAutofit/>
          </a:bodyPr>
          <a:lstStyle/>
          <a:p>
            <a:pPr>
              <a:lnSpc>
                <a:spcPct val="115000"/>
              </a:lnSpc>
              <a:spcAft>
                <a:spcPts val="500"/>
              </a:spcAft>
              <a:defRPr sz="1400" b="1">
                <a:solidFill>
                  <a:srgbClr val="4678AA"/>
                </a:solidFill>
                <a:latin typeface="Calibri"/>
              </a:defRPr>
            </a:pPr>
            <a:r>
              <a:t>Integrated Development Environments (IDEs)</a:t>
            </a:r>
          </a:p>
          <a:p>
            <a:pPr>
              <a:lnSpc>
                <a:spcPct val="115000"/>
              </a:lnSpc>
              <a:spcAft>
                <a:spcPts val="500"/>
              </a:spcAft>
              <a:defRPr sz="1150">
                <a:solidFill>
                  <a:srgbClr val="3C3C3C"/>
                </a:solidFill>
                <a:latin typeface="Calibri"/>
              </a:defRPr>
            </a:pPr>
            <a:r>
              <a:t>Popular IDEs for Java include Eclipse, IntelliJ IDEA, and NetBeans.</a:t>
            </a:r>
          </a:p>
          <a:p>
            <a:pPr>
              <a:lnSpc>
                <a:spcPct val="115000"/>
              </a:lnSpc>
              <a:spcAft>
                <a:spcPts val="500"/>
              </a:spcAft>
              <a:defRPr sz="1400" b="1">
                <a:solidFill>
                  <a:srgbClr val="4678AA"/>
                </a:solidFill>
                <a:latin typeface="Calibri"/>
              </a:defRPr>
            </a:pPr>
            <a:r>
              <a:t>Java Software Development Kit (SDK)</a:t>
            </a:r>
          </a:p>
          <a:p>
            <a:pPr>
              <a:lnSpc>
                <a:spcPct val="115000"/>
              </a:lnSpc>
              <a:spcAft>
                <a:spcPts val="500"/>
              </a:spcAft>
              <a:defRPr sz="1150">
                <a:solidFill>
                  <a:srgbClr val="3C3C3C"/>
                </a:solidFill>
                <a:latin typeface="Calibri"/>
              </a:defRPr>
            </a:pPr>
            <a:r>
              <a:t>Includes tools necessary for developing Java applications: JVM, Java compiler, Java API documentation, and demo programs.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Examples of Java Applications</a:t>
            </a:r>
          </a:p>
        </p:txBody>
      </p:sp>
      <p:pic>
        <p:nvPicPr>
          <p:cNvPr id="5" name="Picture 4" descr="image.jpg"/>
          <p:cNvPicPr>
            <a:picLocks noChangeAspect="1"/>
          </p:cNvPicPr>
          <p:nvPr/>
        </p:nvPicPr>
        <p:blipFill>
          <a:blip r:embed="rId2"/>
          <a:stretch>
            <a:fillRect/>
          </a:stretch>
        </p:blipFill>
        <p:spPr>
          <a:xfrm>
            <a:off x="5486400" y="1463039"/>
            <a:ext cx="2926080" cy="3840480"/>
          </a:xfrm>
          <a:prstGeom prst="rect">
            <a:avLst/>
          </a:prstGeom>
        </p:spPr>
      </p:pic>
      <p:sp>
        <p:nvSpPr>
          <p:cNvPr id="6" name="TextBox 5"/>
          <p:cNvSpPr txBox="1"/>
          <p:nvPr/>
        </p:nvSpPr>
        <p:spPr>
          <a:xfrm>
            <a:off x="457200" y="1463039"/>
            <a:ext cx="4389120" cy="4663440"/>
          </a:xfrm>
          <a:prstGeom prst="rect">
            <a:avLst/>
          </a:prstGeom>
          <a:noFill/>
        </p:spPr>
        <p:txBody>
          <a:bodyPr wrap="square" anchor="t">
            <a:noAutofit/>
          </a:bodyPr>
          <a:lstStyle/>
          <a:p>
            <a:pPr>
              <a:lnSpc>
                <a:spcPct val="115000"/>
              </a:lnSpc>
              <a:spcAft>
                <a:spcPts val="400"/>
              </a:spcAft>
              <a:defRPr sz="1300" b="1">
                <a:solidFill>
                  <a:srgbClr val="4678AA"/>
                </a:solidFill>
                <a:latin typeface="Calibri"/>
              </a:defRPr>
            </a:pPr>
            <a:r>
              <a:t>Desktop Applications</a:t>
            </a:r>
          </a:p>
          <a:p>
            <a:pPr>
              <a:lnSpc>
                <a:spcPct val="115000"/>
              </a:lnSpc>
              <a:spcAft>
                <a:spcPts val="400"/>
              </a:spcAft>
              <a:defRPr sz="1100">
                <a:solidFill>
                  <a:srgbClr val="3C3C3C"/>
                </a:solidFill>
                <a:latin typeface="Calibri"/>
              </a:defRPr>
            </a:pPr>
            <a:r>
              <a:t>Example: Notepad++ – a popular text editor written in Java.</a:t>
            </a:r>
          </a:p>
          <a:p>
            <a:pPr>
              <a:lnSpc>
                <a:spcPct val="115000"/>
              </a:lnSpc>
              <a:spcAft>
                <a:spcPts val="400"/>
              </a:spcAft>
              <a:defRPr sz="1300" b="1">
                <a:solidFill>
                  <a:srgbClr val="4678AA"/>
                </a:solidFill>
                <a:latin typeface="Calibri"/>
              </a:defRPr>
            </a:pPr>
            <a:r>
              <a:t>Web Applications</a:t>
            </a:r>
          </a:p>
          <a:p>
            <a:pPr>
              <a:lnSpc>
                <a:spcPct val="115000"/>
              </a:lnSpc>
              <a:spcAft>
                <a:spcPts val="400"/>
              </a:spcAft>
              <a:defRPr sz="1100">
                <a:solidFill>
                  <a:srgbClr val="3C3C3C"/>
                </a:solidFill>
                <a:latin typeface="Calibri"/>
              </a:defRPr>
            </a:pPr>
            <a:r>
              <a:t>Example: Android Apps – many apps on the Google Play Store are built using Java (Android SDK).</a:t>
            </a:r>
          </a:p>
          <a:p>
            <a:pPr>
              <a:lnSpc>
                <a:spcPct val="115000"/>
              </a:lnSpc>
              <a:spcAft>
                <a:spcPts val="400"/>
              </a:spcAft>
              <a:defRPr sz="1300" b="1">
                <a:solidFill>
                  <a:srgbClr val="4678AA"/>
                </a:solidFill>
                <a:latin typeface="Calibri"/>
              </a:defRPr>
            </a:pPr>
            <a:r>
              <a:t>Mobile Applications</a:t>
            </a:r>
          </a:p>
          <a:p>
            <a:pPr>
              <a:lnSpc>
                <a:spcPct val="115000"/>
              </a:lnSpc>
              <a:spcAft>
                <a:spcPts val="400"/>
              </a:spcAft>
              <a:defRPr sz="1100">
                <a:solidFill>
                  <a:srgbClr val="3C3C3C"/>
                </a:solidFill>
                <a:latin typeface="Calibri"/>
              </a:defRPr>
            </a:pPr>
            <a:r>
              <a:t>Example: Angry Birds – parts of this game were originally developed in Java before being ported to other platforms.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Advantages of Using Java</a:t>
            </a:r>
          </a:p>
        </p:txBody>
      </p:sp>
      <p:pic>
        <p:nvPicPr>
          <p:cNvPr id="5" name="Picture 4" descr="image.jpg"/>
          <p:cNvPicPr>
            <a:picLocks noChangeAspect="1"/>
          </p:cNvPicPr>
          <p:nvPr/>
        </p:nvPicPr>
        <p:blipFill>
          <a:blip r:embed="rId2"/>
          <a:stretch>
            <a:fillRect/>
          </a:stretch>
        </p:blipFill>
        <p:spPr>
          <a:xfrm>
            <a:off x="5486400" y="1463039"/>
            <a:ext cx="2926080" cy="3840480"/>
          </a:xfrm>
          <a:prstGeom prst="rect">
            <a:avLst/>
          </a:prstGeom>
        </p:spPr>
      </p:pic>
      <p:sp>
        <p:nvSpPr>
          <p:cNvPr id="6" name="TextBox 5"/>
          <p:cNvSpPr txBox="1"/>
          <p:nvPr/>
        </p:nvSpPr>
        <p:spPr>
          <a:xfrm>
            <a:off x="457200" y="1463039"/>
            <a:ext cx="4389120" cy="4663440"/>
          </a:xfrm>
          <a:prstGeom prst="rect">
            <a:avLst/>
          </a:prstGeom>
          <a:noFill/>
        </p:spPr>
        <p:txBody>
          <a:bodyPr wrap="square" anchor="t">
            <a:noAutofit/>
          </a:bodyPr>
          <a:lstStyle/>
          <a:p>
            <a:pPr>
              <a:lnSpc>
                <a:spcPct val="115000"/>
              </a:lnSpc>
              <a:spcAft>
                <a:spcPts val="400"/>
              </a:spcAft>
              <a:defRPr sz="1300" b="1">
                <a:solidFill>
                  <a:srgbClr val="4678AA"/>
                </a:solidFill>
                <a:latin typeface="Calibri"/>
              </a:defRPr>
            </a:pPr>
            <a:r>
              <a:t>Secure and Robust</a:t>
            </a:r>
          </a:p>
          <a:p>
            <a:pPr>
              <a:lnSpc>
                <a:spcPct val="115000"/>
              </a:lnSpc>
              <a:spcAft>
                <a:spcPts val="400"/>
              </a:spcAft>
              <a:defRPr sz="1100">
                <a:solidFill>
                  <a:srgbClr val="3C3C3C"/>
                </a:solidFill>
                <a:latin typeface="Calibri"/>
              </a:defRPr>
            </a:pPr>
            <a:r>
              <a:t>Java provides a secure runtime environment due to its memory management, automatic garbage collection, and security manager features.</a:t>
            </a:r>
          </a:p>
          <a:p>
            <a:pPr>
              <a:lnSpc>
                <a:spcPct val="115000"/>
              </a:lnSpc>
              <a:spcAft>
                <a:spcPts val="400"/>
              </a:spcAft>
              <a:defRPr sz="1300" b="1">
                <a:solidFill>
                  <a:srgbClr val="4678AA"/>
                </a:solidFill>
                <a:latin typeface="Calibri"/>
              </a:defRPr>
            </a:pPr>
            <a:r>
              <a:t>High Performance</a:t>
            </a:r>
          </a:p>
          <a:p>
            <a:pPr>
              <a:lnSpc>
                <a:spcPct val="115000"/>
              </a:lnSpc>
              <a:spcAft>
                <a:spcPts val="400"/>
              </a:spcAft>
              <a:defRPr sz="1100">
                <a:solidFill>
                  <a:srgbClr val="3C3C3C"/>
                </a:solidFill>
                <a:latin typeface="Calibri"/>
              </a:defRPr>
            </a:pPr>
            <a:r>
              <a:t>Java applications can be as fast as those written in lower-level languages like C++ when compiled with the Just-In-Time (JIT) compiler.</a:t>
            </a:r>
          </a:p>
          <a:p>
            <a:pPr>
              <a:lnSpc>
                <a:spcPct val="115000"/>
              </a:lnSpc>
              <a:spcAft>
                <a:spcPts val="400"/>
              </a:spcAft>
              <a:defRPr sz="1300" b="1">
                <a:solidFill>
                  <a:srgbClr val="4678AA"/>
                </a:solidFill>
                <a:latin typeface="Calibri"/>
              </a:defRPr>
            </a:pPr>
            <a:r>
              <a:t>Large Community and Extensive Library Support</a:t>
            </a:r>
          </a:p>
          <a:p>
            <a:pPr>
              <a:lnSpc>
                <a:spcPct val="115000"/>
              </a:lnSpc>
              <a:spcAft>
                <a:spcPts val="400"/>
              </a:spcAft>
              <a:defRPr sz="1100">
                <a:solidFill>
                  <a:srgbClr val="3C3C3C"/>
                </a:solidFill>
                <a:latin typeface="Calibri"/>
              </a:defRPr>
            </a:pPr>
            <a:r>
              <a:t>Java has a large community of developers who contribute to its continuous improvement, making it easy to find help and resources online.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Conclusion</a:t>
            </a:r>
          </a:p>
        </p:txBody>
      </p:sp>
      <p:pic>
        <p:nvPicPr>
          <p:cNvPr id="5" name="Picture 4" descr="image.jpg"/>
          <p:cNvPicPr>
            <a:picLocks noChangeAspect="1"/>
          </p:cNvPicPr>
          <p:nvPr/>
        </p:nvPicPr>
        <p:blipFill>
          <a:blip r:embed="rId2"/>
          <a:stretch>
            <a:fillRect/>
          </a:stretch>
        </p:blipFill>
        <p:spPr>
          <a:xfrm>
            <a:off x="5486400" y="1463039"/>
            <a:ext cx="2926080" cy="3840480"/>
          </a:xfrm>
          <a:prstGeom prst="rect">
            <a:avLst/>
          </a:prstGeom>
        </p:spPr>
      </p:pic>
      <p:sp>
        <p:nvSpPr>
          <p:cNvPr id="6" name="TextBox 5"/>
          <p:cNvSpPr txBox="1"/>
          <p:nvPr/>
        </p:nvSpPr>
        <p:spPr>
          <a:xfrm>
            <a:off x="457200" y="1463039"/>
            <a:ext cx="4389120" cy="4663440"/>
          </a:xfrm>
          <a:prstGeom prst="rect">
            <a:avLst/>
          </a:prstGeom>
          <a:noFill/>
        </p:spPr>
        <p:txBody>
          <a:bodyPr wrap="square" anchor="t">
            <a:noAutofit/>
          </a:bodyPr>
          <a:lstStyle/>
          <a:p>
            <a:pPr>
              <a:lnSpc>
                <a:spcPct val="115000"/>
              </a:lnSpc>
              <a:spcAft>
                <a:spcPts val="900"/>
              </a:spcAft>
              <a:defRPr sz="1250">
                <a:solidFill>
                  <a:srgbClr val="2D2D2D"/>
                </a:solidFill>
                <a:latin typeface="Calibri"/>
              </a:defRPr>
            </a:pPr>
            <a:r>
              <a:t>Java is a versatile and powerful programming language that offers platform independence, OOP features, simplicity, and extensive support for web, desktop, and mobile application development. Its security, performance, and large community make it 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