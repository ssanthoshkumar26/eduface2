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AI_Generated_Presentation</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700"/>
              </a:spcAft>
              <a:defRPr sz="1800">
                <a:solidFill>
                  <a:srgbClr val="2D2D2D"/>
                </a:solidFill>
                <a:latin typeface="Calibri"/>
              </a:defRPr>
            </a:pPr>
            <a:r>
              <a:t>ReactJS is a JavaScript library used for building user interfaces and can be used for developing complex, interactive web and mobile applications. It was developed by Facebook (now Meta) and is maintained by Facebook and a community of developers.</a:t>
            </a:r>
          </a:p>
          <a:p>
            <a:pPr>
              <a:lnSpc>
                <a:spcPct val="115000"/>
              </a:lnSpc>
              <a:spcAft>
                <a:spcPts val="500"/>
              </a:spcAft>
              <a:defRPr sz="1800">
                <a:solidFill>
                  <a:srgbClr val="3C3C3C"/>
                </a:solidFill>
                <a:latin typeface="Calibri"/>
              </a:defRPr>
            </a:pPr>
            <a:r>
              <a:t>Component-Based Architecture: ReactJS uses a component-based architecture, where the application is broken down into smaller, reusable components.</a:t>
            </a:r>
          </a:p>
          <a:p>
            <a:pPr>
              <a:lnSpc>
                <a:spcPct val="115000"/>
              </a:lnSpc>
              <a:spcAft>
                <a:spcPts val="500"/>
              </a:spcAft>
              <a:defRPr sz="1800">
                <a:solidFill>
                  <a:srgbClr val="3C3C3C"/>
                </a:solidFill>
                <a:latin typeface="Calibri"/>
              </a:defRPr>
            </a:pPr>
            <a:r>
              <a:t>Virtual DOM: ReactJS uses a virtual DOM (a lightweight in-memory representation of the real DOM) to optimize rendering and reduce the number of DOM mutations.</a:t>
            </a:r>
          </a:p>
          <a:p>
            <a:pPr>
              <a:lnSpc>
                <a:spcPct val="115000"/>
              </a:lnSpc>
              <a:spcAft>
                <a:spcPts val="500"/>
              </a:spcAft>
              <a:defRPr sz="1800">
                <a:solidFill>
                  <a:srgbClr val="3C3C3C"/>
                </a:solidFill>
                <a:latin typeface="Calibri"/>
              </a:defRPr>
            </a:pPr>
            <a:r>
              <a:t>Declarative Programming: ReactJS uses a declarative programming style, where the developer describes what the UI should look like, and ReactJS takes care of the details.</a:t>
            </a:r>
          </a:p>
          <a:p>
            <a:pPr>
              <a:lnSpc>
                <a:spcPct val="115000"/>
              </a:lnSpc>
              <a:spcAft>
                <a:spcPts val="500"/>
              </a:spcAft>
              <a:defRPr sz="1800">
                <a:solidFill>
                  <a:srgbClr val="3C3C3C"/>
                </a:solidFill>
                <a:latin typeface="Calibri"/>
              </a:defRPr>
            </a:pPr>
            <a:r>
              <a:t>One-Way Data Binding: ReactJS uses a one-way data binding approach, where the component's state is updated, and the UI is re-rendered accordingly.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Components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400"/>
              </a:spcAft>
              <a:defRPr sz="2000" b="1">
                <a:solidFill>
                  <a:srgbClr val="4678AA"/>
                </a:solidFill>
                <a:latin typeface="Calibri"/>
              </a:defRPr>
            </a:pPr>
            <a:r>
              <a:t>Functional Components</a:t>
            </a:r>
          </a:p>
          <a:p>
            <a:pPr>
              <a:lnSpc>
                <a:spcPct val="115000"/>
              </a:lnSpc>
              <a:spcAft>
                <a:spcPts val="600"/>
              </a:spcAft>
              <a:defRPr sz="1800">
                <a:solidFill>
                  <a:srgbClr val="2D2D2D"/>
                </a:solidFill>
                <a:latin typeface="Calibri"/>
              </a:defRPr>
            </a:pPr>
            <a:r>
              <a:t>Functional components are pure functions that take in props and return JSX elements. They are stateless and do not have their own lifecycle methods.</a:t>
            </a:r>
          </a:p>
          <a:p>
            <a:pPr>
              <a:lnSpc>
                <a:spcPct val="115000"/>
              </a:lnSpc>
              <a:spcAft>
                <a:spcPts val="400"/>
              </a:spcAft>
              <a:defRPr sz="2000" b="1">
                <a:solidFill>
                  <a:srgbClr val="4678AA"/>
                </a:solidFill>
                <a:latin typeface="Calibri"/>
              </a:defRPr>
            </a:pPr>
            <a:r>
              <a:t>Class Components</a:t>
            </a:r>
          </a:p>
          <a:p>
            <a:pPr>
              <a:lnSpc>
                <a:spcPct val="115000"/>
              </a:lnSpc>
              <a:spcAft>
                <a:spcPts val="600"/>
              </a:spcAft>
              <a:defRPr sz="1800">
                <a:solidFill>
                  <a:srgbClr val="2D2D2D"/>
                </a:solidFill>
                <a:latin typeface="Calibri"/>
              </a:defRPr>
            </a:pPr>
            <a:r>
              <a:t>Class components are classes that extend the React.Component class. They have their own lifecycle methods and can have their own state.</a:t>
            </a:r>
          </a:p>
          <a:p>
            <a:pPr>
              <a:lnSpc>
                <a:spcPct val="115000"/>
              </a:lnSpc>
              <a:spcAft>
                <a:spcPts val="400"/>
              </a:spcAft>
              <a:defRPr sz="1800">
                <a:solidFill>
                  <a:srgbClr val="3C3C3C"/>
                </a:solidFill>
                <a:latin typeface="Calibri"/>
              </a:defRPr>
            </a:pPr>
            <a:r>
              <a:t>Mounting: The process of rendering a component to the DOM for the first time.</a:t>
            </a:r>
          </a:p>
          <a:p>
            <a:pPr>
              <a:lnSpc>
                <a:spcPct val="115000"/>
              </a:lnSpc>
              <a:spcAft>
                <a:spcPts val="400"/>
              </a:spcAft>
              <a:defRPr sz="1800">
                <a:solidFill>
                  <a:srgbClr val="3C3C3C"/>
                </a:solidFill>
                <a:latin typeface="Calibri"/>
              </a:defRPr>
            </a:pPr>
            <a:r>
              <a:t>Updating: The process of re-rendering a component when its state or props change.</a:t>
            </a:r>
          </a:p>
          <a:p>
            <a:pPr>
              <a:lnSpc>
                <a:spcPct val="115000"/>
              </a:lnSpc>
              <a:spcAft>
                <a:spcPts val="400"/>
              </a:spcAft>
              <a:defRPr sz="1800">
                <a:solidFill>
                  <a:srgbClr val="3C3C3C"/>
                </a:solidFill>
                <a:latin typeface="Calibri"/>
              </a:defRPr>
            </a:pPr>
            <a:r>
              <a:t>Unmounting: The process of removing a component from the DOM.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State and Props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State: The state of a component is an object that stores the component's data.</a:t>
            </a:r>
          </a:p>
          <a:p>
            <a:pPr>
              <a:lnSpc>
                <a:spcPct val="115000"/>
              </a:lnSpc>
              <a:spcAft>
                <a:spcPts val="600"/>
              </a:spcAft>
              <a:defRPr sz="1800">
                <a:solidFill>
                  <a:srgbClr val="3C3C3C"/>
                </a:solidFill>
                <a:latin typeface="Calibri"/>
              </a:defRPr>
            </a:pPr>
            <a:r>
              <a:t>Props: Props are short for "properties" and are read-only values passed from a parent component to a child component.</a:t>
            </a:r>
          </a:p>
          <a:p>
            <a:pPr>
              <a:lnSpc>
                <a:spcPct val="115000"/>
              </a:lnSpc>
              <a:spcAft>
                <a:spcPts val="800"/>
              </a:spcAft>
              <a:defRPr sz="1800">
                <a:solidFill>
                  <a:srgbClr val="2D2D2D"/>
                </a:solidFill>
                <a:latin typeface="Calibri"/>
              </a:defRPr>
            </a:pPr>
            <a:r>
              <a:t>ReactJS Hooks are a way to use state and other React features in functional components. They were introduced in React 16.8 and provide a way to manage side effects, such as setting timers or making API requests.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Advantages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500"/>
              </a:spcAft>
              <a:defRPr sz="1800">
                <a:solidFill>
                  <a:srgbClr val="3C3C3C"/>
                </a:solidFill>
                <a:latin typeface="Calibri"/>
              </a:defRPr>
            </a:pPr>
            <a:r>
              <a:t>Fast and Efficient: ReactJS is fast and efficient, thanks to its virtual DOM and one-way data binding approach.</a:t>
            </a:r>
          </a:p>
          <a:p>
            <a:pPr>
              <a:lnSpc>
                <a:spcPct val="115000"/>
              </a:lnSpc>
              <a:spcAft>
                <a:spcPts val="500"/>
              </a:spcAft>
              <a:defRPr sz="1800">
                <a:solidFill>
                  <a:srgbClr val="3C3C3C"/>
                </a:solidFill>
                <a:latin typeface="Calibri"/>
              </a:defRPr>
            </a:pPr>
            <a:r>
              <a:t>Easy to Learn: ReactJS has a relatively low barrier to entry, especially for developers already familiar with JavaScript and HTML/CSS.</a:t>
            </a:r>
          </a:p>
          <a:p>
            <a:pPr>
              <a:lnSpc>
                <a:spcPct val="115000"/>
              </a:lnSpc>
              <a:spcAft>
                <a:spcPts val="500"/>
              </a:spcAft>
              <a:defRPr sz="1800">
                <a:solidFill>
                  <a:srgbClr val="3C3C3C"/>
                </a:solidFill>
                <a:latin typeface="Calibri"/>
              </a:defRPr>
            </a:pPr>
            <a:r>
              <a:t>Large Community: ReactJS has a large and active community of developers, which means there are many resources available for learning and troubleshooting.</a:t>
            </a:r>
          </a:p>
          <a:p>
            <a:pPr>
              <a:lnSpc>
                <a:spcPct val="115000"/>
              </a:lnSpc>
              <a:spcAft>
                <a:spcPts val="500"/>
              </a:spcAft>
              <a:defRPr sz="1800">
                <a:solidFill>
                  <a:srgbClr val="3C3C3C"/>
                </a:solidFill>
                <a:latin typeface="Calibri"/>
              </a:defRPr>
            </a:pPr>
            <a:r>
              <a:t>Steep Learning Curve for Advanced Topics: While ReactJS is easy to learn for basic applications, it can be challenging to master for complex applications.</a:t>
            </a:r>
          </a:p>
          <a:p>
            <a:pPr>
              <a:lnSpc>
                <a:spcPct val="115000"/>
              </a:lnSpc>
              <a:spcAft>
                <a:spcPts val="500"/>
              </a:spcAft>
              <a:defRPr sz="1800">
                <a:solidFill>
                  <a:srgbClr val="3C3C3C"/>
                </a:solidFill>
                <a:latin typeface="Calibri"/>
              </a:defRPr>
            </a:pPr>
            <a:r>
              <a:t>Not a Full-Fledged Framework: ReactJS is a library, not a full-fledged framework, which means it does not provide all the features and tools needed for building complex applications out of the box.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