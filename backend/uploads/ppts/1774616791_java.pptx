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7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7145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5400" b="1">
                <a:solidFill>
                  <a:srgbClr val="FFFFFF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DCE6FA"/>
                </a:solidFill>
                <a:latin typeface="Calibri"/>
              </a:defRPr>
            </a:pPr>
            <a:r>
              <a:t>Generated in Creative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600" b="1">
                <a:solidFill>
                  <a:srgbClr val="4678AA"/>
                </a:solidFill>
                <a:latin typeface="Calibri"/>
              </a:defRPr>
            </a:pPr>
            <a:r>
              <a:t>Java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What is Java?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A high-level, object-oriented programming language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Developed by Sun Microsystems (now owned by Oracle)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200">
                <a:solidFill>
                  <a:srgbClr val="3C3C3C"/>
                </a:solidFill>
                <a:latin typeface="Calibri"/>
              </a:defRPr>
            </a:pPr>
            <a:r>
              <a:t>First released in 1995</a:t>
            </a:r>
          </a:p>
          <a:p>
            <a:pPr>
              <a:lnSpc>
                <a:spcPct val="115000"/>
              </a:lnSpc>
              <a:spcAft>
                <a:spcPts val="600"/>
              </a:spcAft>
              <a:defRPr sz="1500" b="1">
                <a:solidFill>
                  <a:srgbClr val="4678AA"/>
                </a:solidFill>
                <a:latin typeface="Calibri"/>
              </a:defRPr>
            </a:pPr>
            <a:r>
              <a:t>Java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Object-oriented programming model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Platform-independent execution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Compile-time checking and error prevention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Garbage collection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Strong type safety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Benefits of Using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Portability across various platforms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Easy to learn and use for beginners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Robust security features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Wide range of applications (web, mobile, desktop)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400" b="1">
                <a:solidFill>
                  <a:srgbClr val="4678AA"/>
                </a:solidFill>
                <a:latin typeface="Calibri"/>
              </a:defRPr>
            </a:pPr>
            <a:r>
              <a:t>Java Development Environment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400" b="1">
                <a:solidFill>
                  <a:srgbClr val="4678AA"/>
                </a:solidFill>
                <a:latin typeface="Calibri"/>
              </a:defRPr>
            </a:pPr>
            <a:r>
              <a:t>Key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34782"/>
          </a:solidFill>
          <a:ln>
            <a:solidFill>
              <a:srgbClr val="1347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34782"/>
                </a:solidFill>
                <a:latin typeface="Calibri"/>
              </a:defRPr>
            </a:pPr>
            <a:r>
              <a:t>Essential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39"/>
            <a:ext cx="8229600" cy="4663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Java IDE (Integrated Development Environment)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Text Editor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Compiler (javac)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150">
                <a:solidFill>
                  <a:srgbClr val="3C3C3C"/>
                </a:solidFill>
                <a:latin typeface="Calibri"/>
              </a:defRPr>
            </a:pPr>
            <a:r>
              <a:t>Library managers (e.g., Eclipse Marketplace, Maven Central)</a:t>
            </a:r>
          </a:p>
          <a:p>
            <a:pPr>
              <a:lnSpc>
                <a:spcPct val="115000"/>
              </a:lnSpc>
              <a:spcAft>
                <a:spcPts val="500"/>
              </a:spcAft>
              <a:defRPr sz="1400" b="1">
                <a:solidFill>
                  <a:srgbClr val="4678AA"/>
                </a:solidFill>
                <a:latin typeface="Calibri"/>
              </a:defRPr>
            </a:pPr>
            <a:r>
              <a:t>Best Practices for Learning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