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
  </p:notesMasterIdLst>
  <p:handoutMasterIdLst>
    <p:handoutMasterId r:id="rId21"/>
  </p:handoutMasterIdLst>
  <p:sldIdLst>
    <p:sldId id="979" r:id="rId3"/>
    <p:sldId id="994" r:id="rId4"/>
    <p:sldId id="980" r:id="rId5"/>
    <p:sldId id="998" r:id="rId7"/>
    <p:sldId id="988" r:id="rId8"/>
    <p:sldId id="981" r:id="rId9"/>
    <p:sldId id="997" r:id="rId10"/>
    <p:sldId id="983" r:id="rId11"/>
    <p:sldId id="985" r:id="rId12"/>
    <p:sldId id="986" r:id="rId13"/>
    <p:sldId id="1000" r:id="rId14"/>
    <p:sldId id="1001" r:id="rId15"/>
    <p:sldId id="1005" r:id="rId16"/>
    <p:sldId id="1002" r:id="rId17"/>
    <p:sldId id="1003" r:id="rId18"/>
    <p:sldId id="995" r:id="rId19"/>
    <p:sldId id="1006" r:id="rId2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2" userDrawn="1">
          <p15:clr>
            <a:srgbClr val="A4A3A4"/>
          </p15:clr>
        </p15:guide>
        <p15:guide id="2" pos="28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3399"/>
    <a:srgbClr val="000066"/>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09" autoAdjust="0"/>
    <p:restoredTop sz="85996" autoAdjust="0"/>
  </p:normalViewPr>
  <p:slideViewPr>
    <p:cSldViewPr showGuides="1">
      <p:cViewPr>
        <p:scale>
          <a:sx n="48" d="100"/>
          <a:sy n="48" d="100"/>
        </p:scale>
        <p:origin x="-1528" y="-280"/>
      </p:cViewPr>
      <p:guideLst>
        <p:guide orient="horz" pos="2162"/>
        <p:guide pos="2808"/>
      </p:guideLst>
    </p:cSldViewPr>
  </p:slideViewPr>
  <p:outlineViewPr>
    <p:cViewPr>
      <p:scale>
        <a:sx n="33" d="100"/>
        <a:sy n="33" d="100"/>
      </p:scale>
      <p:origin x="0" y="-2064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cs typeface="Arial" panose="020B0604020202020204" pitchFamily="34"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cs typeface="Arial" panose="020B0604020202020204" pitchFamily="34" charset="0"/>
              </a:defRPr>
            </a:lvl1pPr>
          </a:lstStyle>
          <a:p>
            <a:pPr>
              <a:defRPr/>
            </a:pPr>
            <a:fld id="{B6594E75-EDCB-484C-B5E5-23BE422A851F}" type="datetimeFigureOut">
              <a:rPr lang="en-US"/>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cs typeface="Arial" panose="020B0604020202020204" pitchFamily="34"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D4133F8E-C517-4EDD-863C-DA5D458CB150}"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44BD505D-5DC6-4199-85A0-6FB8BB557CF7}" type="datetimeFigureOut">
              <a:rPr lang="en-US"/>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AB11C548-FE47-4CC2-A132-0EA2335883DE}"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IN" altLang="en-US"/>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2EE9DAB-DACA-4F68-A29A-F0158CC6FFF6}" type="slidenum">
              <a:rPr lang="en-US" altLang="en-US" smtClean="0">
                <a:latin typeface="Calibri" panose="020F0502020204030204" pitchFamily="34" charset="0"/>
              </a:rPr>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IN" altLang="en-US"/>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3FC54F5-1F59-476B-81C2-820D985E1185}" type="slidenum">
              <a:rPr lang="en-US" altLang="en-US" smtClean="0">
                <a:latin typeface="Calibri" panose="020F0502020204030204" pitchFamily="34" charset="0"/>
              </a:rPr>
            </a:fld>
            <a:endParaRPr lang="en-US"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IN" altLang="en-US"/>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1E9F878-9C1F-4157-9442-F66FC6D395A6}" type="slidenum">
              <a:rPr lang="en-US" altLang="en-US" smtClean="0">
                <a:latin typeface="Calibri" panose="020F0502020204030204" pitchFamily="34" charset="0"/>
              </a:rPr>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5FF3F763-592C-4323-9A7A-6779C0DB7037}" type="datetime1">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Technovision 2k'22</a:t>
            </a:r>
            <a:endParaRPr lang="en-US"/>
          </a:p>
        </p:txBody>
      </p:sp>
      <p:sp>
        <p:nvSpPr>
          <p:cNvPr id="6" name="Slide Number Placeholder 5"/>
          <p:cNvSpPr>
            <a:spLocks noGrp="1"/>
          </p:cNvSpPr>
          <p:nvPr>
            <p:ph type="sldNum" sz="quarter" idx="12"/>
          </p:nvPr>
        </p:nvSpPr>
        <p:spPr/>
        <p:txBody>
          <a:bodyPr/>
          <a:lstStyle>
            <a:lvl1pPr>
              <a:defRPr/>
            </a:lvl1pPr>
          </a:lstStyle>
          <a:p>
            <a:pPr>
              <a:defRPr/>
            </a:pPr>
            <a:fld id="{EBE22673-E76D-4702-8E1A-7D694D76FE18}" type="slidenum">
              <a:rPr lang="en-US" altLang="en-US"/>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7D925CBA-DE5B-4B5F-A62A-4B4E7D4FB4A8}" type="datetime1">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Technovision 2k'22</a:t>
            </a:r>
            <a:endParaRPr lang="en-US"/>
          </a:p>
        </p:txBody>
      </p:sp>
      <p:sp>
        <p:nvSpPr>
          <p:cNvPr id="6" name="Slide Number Placeholder 5"/>
          <p:cNvSpPr>
            <a:spLocks noGrp="1"/>
          </p:cNvSpPr>
          <p:nvPr>
            <p:ph type="sldNum" sz="quarter" idx="12"/>
          </p:nvPr>
        </p:nvSpPr>
        <p:spPr/>
        <p:txBody>
          <a:bodyPr/>
          <a:lstStyle>
            <a:lvl1pPr>
              <a:defRPr/>
            </a:lvl1pPr>
          </a:lstStyle>
          <a:p>
            <a:pPr>
              <a:defRPr/>
            </a:pPr>
            <a:fld id="{E0AA0814-68D7-4CF4-8432-4D9707D29DA4}" type="slidenum">
              <a:rPr lang="en-US" altLang="en-US"/>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B671320B-CA65-40A3-A2D2-7CB7D22E362B}" type="datetime1">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Technovision 2k'22</a:t>
            </a:r>
            <a:endParaRPr lang="en-US"/>
          </a:p>
        </p:txBody>
      </p:sp>
      <p:sp>
        <p:nvSpPr>
          <p:cNvPr id="6" name="Slide Number Placeholder 5"/>
          <p:cNvSpPr>
            <a:spLocks noGrp="1"/>
          </p:cNvSpPr>
          <p:nvPr>
            <p:ph type="sldNum" sz="quarter" idx="12"/>
          </p:nvPr>
        </p:nvSpPr>
        <p:spPr/>
        <p:txBody>
          <a:bodyPr/>
          <a:lstStyle>
            <a:lvl1pPr>
              <a:defRPr/>
            </a:lvl1pPr>
          </a:lstStyle>
          <a:p>
            <a:pPr>
              <a:defRPr/>
            </a:pPr>
            <a:fld id="{C27E4C44-B9E1-4C40-AC46-1727CDAE313E}"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3"/>
          <p:cNvSpPr>
            <a:spLocks noGrp="1"/>
          </p:cNvSpPr>
          <p:nvPr>
            <p:ph type="dt" sz="half" idx="10"/>
          </p:nvPr>
        </p:nvSpPr>
        <p:spPr/>
        <p:txBody>
          <a:bodyPr/>
          <a:lstStyle>
            <a:lvl1pPr>
              <a:defRPr/>
            </a:lvl1pPr>
          </a:lstStyle>
          <a:p>
            <a:pPr>
              <a:defRPr/>
            </a:pPr>
            <a:fld id="{F37A03A7-649D-4535-8DD5-162FF1ED6A07}" type="datetime1">
              <a:rPr lang="en-US"/>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Technovision 2k'22</a:t>
            </a:r>
            <a:endParaRPr lang="en-US"/>
          </a:p>
        </p:txBody>
      </p:sp>
      <p:sp>
        <p:nvSpPr>
          <p:cNvPr id="7" name="Slide Number Placeholder 5"/>
          <p:cNvSpPr>
            <a:spLocks noGrp="1"/>
          </p:cNvSpPr>
          <p:nvPr>
            <p:ph type="sldNum" sz="quarter" idx="12"/>
          </p:nvPr>
        </p:nvSpPr>
        <p:spPr/>
        <p:txBody>
          <a:bodyPr/>
          <a:lstStyle>
            <a:lvl1pPr>
              <a:defRPr/>
            </a:lvl1pPr>
          </a:lstStyle>
          <a:p>
            <a:pPr>
              <a:defRPr/>
            </a:pPr>
            <a:fld id="{4C480060-4A4E-46AB-8851-5339F687B54C}"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3"/>
          <p:cNvSpPr>
            <a:spLocks noGrp="1"/>
          </p:cNvSpPr>
          <p:nvPr>
            <p:ph type="dt" sz="half" idx="10"/>
          </p:nvPr>
        </p:nvSpPr>
        <p:spPr/>
        <p:txBody>
          <a:bodyPr/>
          <a:lstStyle>
            <a:lvl1pPr>
              <a:defRPr/>
            </a:lvl1pPr>
          </a:lstStyle>
          <a:p>
            <a:pPr>
              <a:defRPr/>
            </a:pPr>
            <a:fld id="{14A2C804-8E1A-4249-8BA5-90EB6B077B91}" type="datetime1">
              <a:rPr lang="en-US"/>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Technovision 2k'22</a:t>
            </a:r>
            <a:endParaRPr lang="en-US"/>
          </a:p>
        </p:txBody>
      </p:sp>
      <p:sp>
        <p:nvSpPr>
          <p:cNvPr id="9" name="Slide Number Placeholder 5"/>
          <p:cNvSpPr>
            <a:spLocks noGrp="1"/>
          </p:cNvSpPr>
          <p:nvPr>
            <p:ph type="sldNum" sz="quarter" idx="12"/>
          </p:nvPr>
        </p:nvSpPr>
        <p:spPr/>
        <p:txBody>
          <a:bodyPr/>
          <a:lstStyle>
            <a:lvl1pPr>
              <a:defRPr/>
            </a:lvl1pPr>
          </a:lstStyle>
          <a:p>
            <a:pPr>
              <a:defRPr/>
            </a:pPr>
            <a:fld id="{ADF06EE8-4475-4E4B-BD62-61E47DC5B8DE}"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FEE9DD31-1F2D-4373-85EE-D077A4CD4160}" type="datetime1">
              <a:rPr lang="en-US"/>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Technovision 2k'22</a:t>
            </a:r>
            <a:endParaRPr lang="en-US"/>
          </a:p>
        </p:txBody>
      </p:sp>
      <p:sp>
        <p:nvSpPr>
          <p:cNvPr id="5" name="Slide Number Placeholder 5"/>
          <p:cNvSpPr>
            <a:spLocks noGrp="1"/>
          </p:cNvSpPr>
          <p:nvPr>
            <p:ph type="sldNum" sz="quarter" idx="12"/>
          </p:nvPr>
        </p:nvSpPr>
        <p:spPr/>
        <p:txBody>
          <a:bodyPr/>
          <a:lstStyle>
            <a:lvl1pPr>
              <a:defRPr/>
            </a:lvl1pPr>
          </a:lstStyle>
          <a:p>
            <a:pPr>
              <a:defRPr/>
            </a:pPr>
            <a:fld id="{A356387A-D596-4667-B28D-7A4783CCA8E0}"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9935E01-36A3-4CF1-A43A-7D94E607D882}" type="datetime1">
              <a:rPr lang="en-US"/>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Technovision 2k'22</a:t>
            </a:r>
            <a:endParaRPr lang="en-US"/>
          </a:p>
        </p:txBody>
      </p:sp>
      <p:sp>
        <p:nvSpPr>
          <p:cNvPr id="4" name="Slide Number Placeholder 5"/>
          <p:cNvSpPr>
            <a:spLocks noGrp="1"/>
          </p:cNvSpPr>
          <p:nvPr>
            <p:ph type="sldNum" sz="quarter" idx="12"/>
          </p:nvPr>
        </p:nvSpPr>
        <p:spPr/>
        <p:txBody>
          <a:bodyPr/>
          <a:lstStyle>
            <a:lvl1pPr>
              <a:defRPr/>
            </a:lvl1pPr>
          </a:lstStyle>
          <a:p>
            <a:pPr>
              <a:defRPr/>
            </a:pPr>
            <a:fld id="{263178F5-2026-48B6-8E63-D7AE53B4E4F6}"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FEA57D07-0A69-482D-8914-EF727AC0AC2E}" type="datetime1">
              <a:rPr lang="en-US"/>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Technovision 2k'22</a:t>
            </a:r>
            <a:endParaRPr lang="en-US"/>
          </a:p>
        </p:txBody>
      </p:sp>
      <p:sp>
        <p:nvSpPr>
          <p:cNvPr id="7" name="Slide Number Placeholder 5"/>
          <p:cNvSpPr>
            <a:spLocks noGrp="1"/>
          </p:cNvSpPr>
          <p:nvPr>
            <p:ph type="sldNum" sz="quarter" idx="12"/>
          </p:nvPr>
        </p:nvSpPr>
        <p:spPr/>
        <p:txBody>
          <a:bodyPr/>
          <a:lstStyle>
            <a:lvl1pPr>
              <a:defRPr/>
            </a:lvl1pPr>
          </a:lstStyle>
          <a:p>
            <a:pPr>
              <a:defRPr/>
            </a:pPr>
            <a:fld id="{DD94B5FD-E8E4-4D37-BDC4-80F74E0952EA}"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EEF2F586-F173-4072-99F1-9F17C0712535}" type="datetime1">
              <a:rPr lang="en-US"/>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Technovision 2k'22</a:t>
            </a:r>
            <a:endParaRPr lang="en-US"/>
          </a:p>
        </p:txBody>
      </p:sp>
      <p:sp>
        <p:nvSpPr>
          <p:cNvPr id="7" name="Slide Number Placeholder 5"/>
          <p:cNvSpPr>
            <a:spLocks noGrp="1"/>
          </p:cNvSpPr>
          <p:nvPr>
            <p:ph type="sldNum" sz="quarter" idx="12"/>
          </p:nvPr>
        </p:nvSpPr>
        <p:spPr/>
        <p:txBody>
          <a:bodyPr/>
          <a:lstStyle>
            <a:lvl1pPr>
              <a:defRPr/>
            </a:lvl1pPr>
          </a:lstStyle>
          <a:p>
            <a:pPr>
              <a:defRPr/>
            </a:pPr>
            <a:fld id="{4BB48CD5-9349-4483-9A22-36DEBEAFD9F6}"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2B5CFF04-8001-4EEB-A69B-E63E14CD4CA4}" type="datetime1">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Technovision 2k'22</a:t>
            </a:r>
            <a:endParaRPr lang="en-US"/>
          </a:p>
        </p:txBody>
      </p:sp>
      <p:sp>
        <p:nvSpPr>
          <p:cNvPr id="6" name="Slide Number Placeholder 5"/>
          <p:cNvSpPr>
            <a:spLocks noGrp="1"/>
          </p:cNvSpPr>
          <p:nvPr>
            <p:ph type="sldNum" sz="quarter" idx="12"/>
          </p:nvPr>
        </p:nvSpPr>
        <p:spPr/>
        <p:txBody>
          <a:bodyPr/>
          <a:lstStyle>
            <a:lvl1pPr>
              <a:defRPr/>
            </a:lvl1pPr>
          </a:lstStyle>
          <a:p>
            <a:pPr>
              <a:defRPr/>
            </a:pPr>
            <a:fld id="{DA1B025F-7706-4FDF-8559-E9A380154FD6}"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FE71A784-18D5-40C8-BA8D-1D62A12D7948}" type="datetime1">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Technovision 2k'22</a:t>
            </a:r>
            <a:endParaRPr lang="en-US"/>
          </a:p>
        </p:txBody>
      </p:sp>
      <p:sp>
        <p:nvSpPr>
          <p:cNvPr id="6" name="Slide Number Placeholder 5"/>
          <p:cNvSpPr>
            <a:spLocks noGrp="1"/>
          </p:cNvSpPr>
          <p:nvPr>
            <p:ph type="sldNum" sz="quarter" idx="12"/>
          </p:nvPr>
        </p:nvSpPr>
        <p:spPr/>
        <p:txBody>
          <a:bodyPr/>
          <a:lstStyle>
            <a:lvl1pPr>
              <a:defRPr/>
            </a:lvl1pPr>
          </a:lstStyle>
          <a:p>
            <a:pPr>
              <a:defRPr/>
            </a:pPr>
            <a:fld id="{D87820F6-58FF-416C-8BBE-4EBB8D309FEB}"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7724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838200" y="1905000"/>
            <a:ext cx="38100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800600" y="1905000"/>
            <a:ext cx="38100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a:defRPr/>
            </a:pPr>
            <a:fld id="{C0D2853F-0BAD-4764-BCA3-46742CAF53AA}" type="datetime1">
              <a:rPr lang="en-US"/>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Technovision 2k'22</a:t>
            </a:r>
            <a:endParaRPr lang="en-US"/>
          </a:p>
        </p:txBody>
      </p:sp>
      <p:sp>
        <p:nvSpPr>
          <p:cNvPr id="7" name="Slide Number Placeholder 5"/>
          <p:cNvSpPr>
            <a:spLocks noGrp="1"/>
          </p:cNvSpPr>
          <p:nvPr>
            <p:ph type="sldNum" sz="quarter" idx="12"/>
          </p:nvPr>
        </p:nvSpPr>
        <p:spPr/>
        <p:txBody>
          <a:bodyPr/>
          <a:lstStyle>
            <a:lvl1pPr>
              <a:defRPr/>
            </a:lvl1pPr>
          </a:lstStyle>
          <a:p>
            <a:pPr>
              <a:defRPr/>
            </a:pPr>
            <a:fld id="{7CEA8EF7-49E6-4330-9F76-B06A281F9994}" type="slidenum">
              <a:rPr lang="en-US" altLang="en-US"/>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7"/>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027" name="Text Placeholder 2"/>
          <p:cNvSpPr>
            <a:spLocks noGrp="1"/>
          </p:cNvSpPr>
          <p:nvPr>
            <p:ph type="body" idx="1"/>
          </p:nvPr>
        </p:nvSpPr>
        <p:spPr bwMode="auto">
          <a:xfrm>
            <a:off x="457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F16E16BC-BB46-4FAA-BE08-8969939A54A8}" type="datetime1">
              <a:rPr lang="en-US"/>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en-US"/>
              <a:t>Technovision 2k'22</a:t>
            </a:r>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a:defRPr/>
            </a:pPr>
            <a:fld id="{0817E29B-9CD4-4287-A16D-5D55418CF4C7}"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txBox="1"/>
          <p:nvPr/>
        </p:nvSpPr>
        <p:spPr bwMode="auto">
          <a:xfrm>
            <a:off x="657225" y="3330577"/>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200" b="1" dirty="0">
                <a:solidFill>
                  <a:srgbClr val="003399"/>
                </a:solidFill>
                <a:latin typeface="Calibri" panose="020F0502020204030204" pitchFamily="34" charset="0"/>
              </a:rPr>
              <a:t>EDUFACE: AN AI-POWERED PERSONALIZED LEARNING PLATFORM</a:t>
            </a:r>
            <a:r>
              <a:rPr lang="en-IN" altLang="en-US" sz="3200" b="1" dirty="0">
                <a:solidFill>
                  <a:srgbClr val="003399"/>
                </a:solidFill>
                <a:latin typeface="Calibri" panose="020F0502020204030204" pitchFamily="34" charset="0"/>
              </a:rPr>
              <a:t> FOR</a:t>
            </a:r>
            <a:r>
              <a:rPr lang="en-US" altLang="en-US" sz="3200" b="1" dirty="0">
                <a:solidFill>
                  <a:srgbClr val="003399"/>
                </a:solidFill>
                <a:latin typeface="Calibri" panose="020F0502020204030204" pitchFamily="34" charset="0"/>
              </a:rPr>
              <a:t> A</a:t>
            </a:r>
            <a:r>
              <a:rPr lang="en-IN" altLang="en-US" sz="3200" b="1" dirty="0">
                <a:solidFill>
                  <a:srgbClr val="003399"/>
                </a:solidFill>
                <a:latin typeface="Calibri" panose="020F0502020204030204" pitchFamily="34" charset="0"/>
              </a:rPr>
              <a:t>CCESSIBLE AND</a:t>
            </a:r>
            <a:r>
              <a:rPr lang="en-US" altLang="en-US" sz="3200" b="1" dirty="0">
                <a:solidFill>
                  <a:srgbClr val="003399"/>
                </a:solidFill>
                <a:latin typeface="Calibri" panose="020F0502020204030204" pitchFamily="34" charset="0"/>
              </a:rPr>
              <a:t> </a:t>
            </a:r>
            <a:r>
              <a:rPr lang="en-IN" altLang="en-US" sz="3200" b="1" dirty="0">
                <a:solidFill>
                  <a:srgbClr val="003399"/>
                </a:solidFill>
                <a:latin typeface="Calibri" panose="020F0502020204030204" pitchFamily="34" charset="0"/>
              </a:rPr>
              <a:t>ENGAGING LEARNING</a:t>
            </a:r>
            <a:endParaRPr lang="en-IN" altLang="en-US" sz="3200" b="1" dirty="0">
              <a:solidFill>
                <a:srgbClr val="003399"/>
              </a:solidFill>
              <a:latin typeface="Calibri" panose="020F0502020204030204" pitchFamily="34" charset="0"/>
            </a:endParaRPr>
          </a:p>
        </p:txBody>
      </p:sp>
      <p:sp>
        <p:nvSpPr>
          <p:cNvPr id="2051" name="TextBox 2"/>
          <p:cNvSpPr txBox="1">
            <a:spLocks noChangeArrowheads="1"/>
          </p:cNvSpPr>
          <p:nvPr/>
        </p:nvSpPr>
        <p:spPr bwMode="auto">
          <a:xfrm>
            <a:off x="757238" y="2819400"/>
            <a:ext cx="7772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000" b="1" dirty="0">
                <a:solidFill>
                  <a:srgbClr val="00B050"/>
                </a:solidFill>
              </a:rPr>
              <a:t>Department of  Computer Science and Engineering</a:t>
            </a:r>
            <a:endParaRPr lang="en-US" altLang="en-US" sz="2000" b="1" dirty="0">
              <a:solidFill>
                <a:srgbClr val="00B050"/>
              </a:solidFill>
            </a:endParaRPr>
          </a:p>
        </p:txBody>
      </p:sp>
      <p:sp>
        <p:nvSpPr>
          <p:cNvPr id="2052" name="TextBox 1"/>
          <p:cNvSpPr txBox="1">
            <a:spLocks noChangeArrowheads="1"/>
          </p:cNvSpPr>
          <p:nvPr/>
        </p:nvSpPr>
        <p:spPr bwMode="auto">
          <a:xfrm>
            <a:off x="533400" y="4800601"/>
            <a:ext cx="373380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GB" altLang="en-US"/>
              <a:t>Team Members</a:t>
            </a:r>
            <a:endParaRPr lang="en-GB" altLang="en-US"/>
          </a:p>
          <a:p>
            <a:r>
              <a:rPr lang="en-GB" altLang="en-US"/>
              <a:t>1.</a:t>
            </a:r>
            <a:r>
              <a:rPr lang="en-IN" altLang="en-GB"/>
              <a:t>Suresh Bharathi B(22ucs009)</a:t>
            </a:r>
            <a:endParaRPr lang="en-GB" altLang="en-US"/>
          </a:p>
          <a:p>
            <a:r>
              <a:rPr lang="en-IN" altLang="en-GB"/>
              <a:t>2</a:t>
            </a:r>
            <a:r>
              <a:rPr lang="en-GB" altLang="en-US"/>
              <a:t>.</a:t>
            </a:r>
            <a:r>
              <a:rPr lang="en-IN" altLang="en-GB"/>
              <a:t>Sam Prasith R(22ucs027)</a:t>
            </a:r>
            <a:endParaRPr lang="en-GB" altLang="en-US"/>
          </a:p>
          <a:p>
            <a:r>
              <a:rPr lang="en-IN" altLang="en-GB"/>
              <a:t>3</a:t>
            </a:r>
            <a:r>
              <a:rPr lang="en-GB" altLang="en-US"/>
              <a:t>.</a:t>
            </a:r>
            <a:r>
              <a:rPr lang="en-IN" altLang="en-GB"/>
              <a:t>Santhosh Kumar S(22ucs133)</a:t>
            </a:r>
            <a:endParaRPr lang="en-IN" altLang="en-GB"/>
          </a:p>
        </p:txBody>
      </p:sp>
      <p:sp>
        <p:nvSpPr>
          <p:cNvPr id="2053" name="TextBox 2"/>
          <p:cNvSpPr txBox="1">
            <a:spLocks noChangeArrowheads="1"/>
          </p:cNvSpPr>
          <p:nvPr/>
        </p:nvSpPr>
        <p:spPr bwMode="auto">
          <a:xfrm>
            <a:off x="4571685" y="4876801"/>
            <a:ext cx="3500437"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GB" altLang="en-US"/>
              <a:t>Project Guide</a:t>
            </a:r>
            <a:endParaRPr lang="en-GB" altLang="en-US"/>
          </a:p>
          <a:p>
            <a:r>
              <a:rPr lang="en-US" altLang="en-US"/>
              <a:t>Dr. A. Meenakshi, M.E., Ph.D</a:t>
            </a:r>
            <a:endParaRPr lang="en-US" altLang="en-US"/>
          </a:p>
          <a:p>
            <a:r>
              <a:rPr lang="en-US" altLang="en-US"/>
              <a:t>Professor &amp; Head of Department</a:t>
            </a:r>
            <a:endParaRPr lang="en-US" altLang="en-US"/>
          </a:p>
        </p:txBody>
      </p:sp>
      <p:sp>
        <p:nvSpPr>
          <p:cNvPr id="4" name="TextBox 3"/>
          <p:cNvSpPr txBox="1"/>
          <p:nvPr/>
        </p:nvSpPr>
        <p:spPr>
          <a:xfrm>
            <a:off x="1985963" y="2117726"/>
            <a:ext cx="5181600" cy="646331"/>
          </a:xfrm>
          <a:prstGeom prst="rect">
            <a:avLst/>
          </a:prstGeom>
          <a:noFill/>
        </p:spPr>
        <p:txBody>
          <a:bodyPr>
            <a:spAutoFit/>
          </a:bodyPr>
          <a:lstStyle/>
          <a:p>
            <a:pPr algn="ctr">
              <a:defRPr/>
            </a:pPr>
            <a:r>
              <a:rPr lang="en-GB" sz="3600" b="1" dirty="0">
                <a:solidFill>
                  <a:schemeClr val="accent6">
                    <a:lumMod val="50000"/>
                  </a:schemeClr>
                </a:solidFill>
              </a:rPr>
              <a:t>TECHNOVISION 2K26</a:t>
            </a:r>
            <a:endParaRPr lang="en-IN" sz="3600" b="1" dirty="0">
              <a:solidFill>
                <a:schemeClr val="accent6">
                  <a:lumMod val="50000"/>
                </a:schemeClr>
              </a:solidFill>
            </a:endParaRPr>
          </a:p>
        </p:txBody>
      </p:sp>
      <p:sp>
        <p:nvSpPr>
          <p:cNvPr id="2055"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D52FFF0-3793-4917-9E8A-8987A65405DF}"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pic>
        <p:nvPicPr>
          <p:cNvPr id="2057" name="Picture 1" descr="C:\Users\admin\Pictures\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28740" y="290514"/>
            <a:ext cx="6429375"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bwMode="auto">
          <a:xfrm>
            <a:off x="457200" y="152401"/>
            <a:ext cx="8229600" cy="639763"/>
          </a:xfrm>
          <a:prstGeom prst="rect">
            <a:avLst/>
          </a:prstGeom>
          <a:noFill/>
          <a:ln>
            <a:noFill/>
          </a:ln>
        </p:spPr>
        <p:txBody>
          <a:bodyPr anchor="ctr">
            <a:normAutofit fontScale="90000" lnSpcReduction="200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defRPr/>
            </a:pPr>
            <a:r>
              <a:rPr lang="en-US" b="1" dirty="0">
                <a:solidFill>
                  <a:srgbClr val="C00000"/>
                </a:solidFill>
                <a:latin typeface="Times New Roman" panose="02020603050405020304" pitchFamily="18" charset="0"/>
                <a:cs typeface="Times New Roman" panose="02020603050405020304" pitchFamily="18" charset="0"/>
              </a:rPr>
              <a:t>Motivation for the Project</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8195" name="Rectangle 3"/>
          <p:cNvSpPr>
            <a:spLocks noChangeArrowheads="1"/>
          </p:cNvSpPr>
          <p:nvPr/>
        </p:nvSpPr>
        <p:spPr bwMode="auto">
          <a:xfrm>
            <a:off x="-283845" y="1128395"/>
            <a:ext cx="8790940" cy="3841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371600" indent="-4572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257300" lvl="2" indent="-342900" algn="just" eaLnBrk="1" hangingPunct="1">
              <a:buFont typeface="Arial" panose="020B0604020202020204" pitchFamily="34" charset="0"/>
              <a:buChar char="•"/>
              <a:defRPr/>
            </a:pPr>
            <a:r>
              <a:rPr lang="en-US" altLang="en-US" sz="2400" dirty="0">
                <a:latin typeface="Times New Roman" panose="02020603050405020304" pitchFamily="18" charset="0"/>
                <a:cs typeface="Times New Roman" panose="02020603050405020304" pitchFamily="18" charset="0"/>
              </a:rPr>
              <a:t>Providing quality education remains a challenge, especially for students in rural and economically weaker regions with limited access to teachers and learning resources. Traditional materials such as textbooks, PDFs, and PowerPoint slides are static and often fail to engage different learning styles.</a:t>
            </a:r>
            <a:endParaRPr lang="en-US" altLang="en-US" sz="2400" dirty="0">
              <a:latin typeface="Times New Roman" panose="02020603050405020304" pitchFamily="18" charset="0"/>
              <a:cs typeface="Times New Roman" panose="02020603050405020304" pitchFamily="18" charset="0"/>
            </a:endParaRPr>
          </a:p>
          <a:p>
            <a:pPr marL="914400" lvl="2" indent="0" algn="just" eaLnBrk="1" hangingPunct="1">
              <a:buFont typeface="Arial" panose="020B0604020202020204" pitchFamily="34" charset="0"/>
              <a:buNone/>
              <a:defRPr/>
            </a:pPr>
            <a:endParaRPr lang="en-US" altLang="en-US" sz="2400" dirty="0">
              <a:latin typeface="Times New Roman" panose="02020603050405020304" pitchFamily="18" charset="0"/>
              <a:cs typeface="Times New Roman" panose="02020603050405020304" pitchFamily="18" charset="0"/>
            </a:endParaRPr>
          </a:p>
          <a:p>
            <a:pPr marL="1257300" lvl="2" indent="-342900" algn="just" eaLnBrk="1" hangingPunct="1">
              <a:buFont typeface="Arial" panose="020B0604020202020204" pitchFamily="34" charset="0"/>
              <a:buChar char="•"/>
              <a:defRPr/>
            </a:pPr>
            <a:r>
              <a:rPr lang="en-IN" altLang="en-US" sz="2400" dirty="0">
                <a:latin typeface="Times New Roman" panose="02020603050405020304" pitchFamily="18" charset="0"/>
                <a:cs typeface="Times New Roman" panose="02020603050405020304" pitchFamily="18" charset="0"/>
              </a:rPr>
              <a:t>A</a:t>
            </a:r>
            <a:r>
              <a:rPr lang="en-US" altLang="en-US" sz="2400" dirty="0">
                <a:latin typeface="Times New Roman" panose="02020603050405020304" pitchFamily="18" charset="0"/>
                <a:cs typeface="Times New Roman" panose="02020603050405020304" pitchFamily="18" charset="0"/>
              </a:rPr>
              <a:t>dvancements in Artificial Intelligence, Natural Language Processing, and Computer Vision provide new opportunities to improve digital education.</a:t>
            </a:r>
            <a:endParaRPr lang="en-US" altLang="en-US" sz="2400" dirty="0">
              <a:latin typeface="Times New Roman" panose="02020603050405020304" pitchFamily="18" charset="0"/>
              <a:cs typeface="Times New Roman" panose="02020603050405020304" pitchFamily="18" charset="0"/>
            </a:endParaRPr>
          </a:p>
          <a:p>
            <a:pPr lvl="2" algn="just" eaLnBrk="1" hangingPunct="1">
              <a:buFont typeface="Arial" panose="020B0604020202020204" pitchFamily="34" charset="0"/>
              <a:buChar char="•"/>
              <a:defRPr/>
            </a:pPr>
            <a:endParaRPr lang="en-US" altLang="en-US" sz="2400" dirty="0">
              <a:latin typeface="Times New Roman" panose="02020603050405020304" pitchFamily="18" charset="0"/>
              <a:cs typeface="Times New Roman" panose="02020603050405020304" pitchFamily="18" charset="0"/>
            </a:endParaRPr>
          </a:p>
          <a:p>
            <a:pPr marL="1257300" lvl="2" indent="-342900" algn="just" eaLnBrk="1" hangingPunct="1">
              <a:buFont typeface="Arial" panose="020B0604020202020204" pitchFamily="34" charset="0"/>
              <a:buChar char="•"/>
              <a:defRPr/>
            </a:pPr>
            <a:r>
              <a:rPr lang="en-US" altLang="en-US" sz="2400" dirty="0">
                <a:latin typeface="Times New Roman" panose="02020603050405020304" pitchFamily="18" charset="0"/>
                <a:cs typeface="Times New Roman" panose="02020603050405020304" pitchFamily="18" charset="0"/>
              </a:rPr>
              <a:t>EduFace aims to transform traditional study materials into interactive AI-generated video lessons with virtual instructors, making learning more engaging, accessible, and personalized.</a:t>
            </a:r>
            <a:endParaRPr lang="en-US" altLang="en-US" sz="2400" dirty="0">
              <a:latin typeface="Times New Roman" panose="02020603050405020304" pitchFamily="18" charset="0"/>
              <a:cs typeface="Times New Roman" panose="02020603050405020304" pitchFamily="18" charset="0"/>
            </a:endParaRPr>
          </a:p>
        </p:txBody>
      </p:sp>
      <p:sp>
        <p:nvSpPr>
          <p:cNvPr id="3076"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AE1EA27-6C57-4299-98FB-0B2D6C742C0D}"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1"/>
            <a:ext cx="8229600" cy="639763"/>
          </a:xfrm>
        </p:spPr>
        <p:txBody>
          <a:bodyPr>
            <a:normAutofit fontScale="90000"/>
          </a:bodyPr>
          <a:lstStyle/>
          <a:p>
            <a:pPr eaLnBrk="1" hangingPunct="1">
              <a:defRPr/>
            </a:pPr>
            <a:r>
              <a:rPr lang="en-US" b="1" dirty="0">
                <a:solidFill>
                  <a:srgbClr val="C00000"/>
                </a:solidFill>
                <a:latin typeface="Times New Roman" panose="02020603050405020304" pitchFamily="18" charset="0"/>
                <a:cs typeface="Times New Roman" panose="02020603050405020304" pitchFamily="18" charset="0"/>
              </a:rPr>
              <a:t>Project Proposal Document</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10243" name="Rectangle 3"/>
          <p:cNvSpPr>
            <a:spLocks noChangeArrowheads="1"/>
          </p:cNvSpPr>
          <p:nvPr/>
        </p:nvSpPr>
        <p:spPr bwMode="auto">
          <a:xfrm>
            <a:off x="156845" y="735330"/>
            <a:ext cx="8529955" cy="6214745"/>
          </a:xfrm>
          <a:prstGeom prst="rect">
            <a:avLst/>
          </a:prstGeom>
          <a:noFill/>
          <a:ln w="9525">
            <a:noFill/>
            <a:miter lim="800000"/>
          </a:ln>
        </p:spPr>
        <p:txBody>
          <a:bodyPr>
            <a:noAutofit/>
          </a:bodyPr>
          <a:lstStyle/>
          <a:p>
            <a:pPr marL="914400" lvl="1" indent="-914400" eaLnBrk="1" hangingPunct="1">
              <a:defRPr/>
            </a:pPr>
            <a:r>
              <a:rPr lang="en-US" altLang="en-US" sz="2400" b="1" u="sng" dirty="0">
                <a:solidFill>
                  <a:srgbClr val="C00000"/>
                </a:solidFill>
                <a:latin typeface="Times New Roman" panose="02020603050405020304" pitchFamily="18" charset="0"/>
                <a:cs typeface="Times New Roman" panose="02020603050405020304" pitchFamily="18" charset="0"/>
              </a:rPr>
              <a:t>Project Description</a:t>
            </a:r>
            <a:r>
              <a:rPr lang="en-US" altLang="en-US" sz="2400" dirty="0">
                <a:latin typeface="Times New Roman" panose="02020603050405020304" pitchFamily="18" charset="0"/>
                <a:cs typeface="Times New Roman" panose="02020603050405020304" pitchFamily="18" charset="0"/>
              </a:rPr>
              <a:t> </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EduFace is an AI-powered platform that converts study materials such as notes or PowerPoint slides into interactive educational videos using a virtual AI instructor with voice narration and lip synchronization.</a:t>
            </a:r>
            <a:endParaRPr lang="en-US" altLang="en-US" sz="2400" dirty="0">
              <a:latin typeface="Times New Roman" panose="02020603050405020304" pitchFamily="18" charset="0"/>
              <a:cs typeface="Times New Roman" panose="02020603050405020304" pitchFamily="18" charset="0"/>
            </a:endParaRPr>
          </a:p>
          <a:p>
            <a:pPr algn="just">
              <a:defRPr/>
            </a:pPr>
            <a:r>
              <a:rPr lang="en-US" altLang="en-US" sz="2400" b="1" u="sng" dirty="0">
                <a:solidFill>
                  <a:srgbClr val="C00000"/>
                </a:solidFill>
                <a:latin typeface="Times New Roman" panose="02020603050405020304" pitchFamily="18" charset="0"/>
                <a:cs typeface="Times New Roman" panose="02020603050405020304" pitchFamily="18" charset="0"/>
              </a:rPr>
              <a:t>Project Objective</a:t>
            </a:r>
            <a:endParaRPr lang="en-US" altLang="en-US" sz="2400" dirty="0">
              <a:solidFill>
                <a:srgbClr val="C00000"/>
              </a:solidFill>
              <a:latin typeface="Times New Roman" panose="02020603050405020304" pitchFamily="18" charset="0"/>
              <a:cs typeface="Times New Roman" panose="02020603050405020304" pitchFamily="18" charset="0"/>
            </a:endParaRPr>
          </a:p>
          <a:p>
            <a:pPr marL="914400" lvl="2" indent="0" algn="just">
              <a:buFont typeface="Arial" panose="020B0604020202020204" pitchFamily="34" charset="0"/>
              <a:buNone/>
              <a:defRPr/>
            </a:pPr>
            <a:r>
              <a:rPr lang="en-US" altLang="en-US" sz="2400" dirty="0">
                <a:latin typeface="Times New Roman" panose="02020603050405020304" pitchFamily="18" charset="0"/>
                <a:cs typeface="Times New Roman" panose="02020603050405020304" pitchFamily="18" charset="0"/>
              </a:rPr>
              <a:t>• To develop an AI-based system that generates personalized educational videos automatically.</a:t>
            </a:r>
            <a:endParaRPr lang="en-US" altLang="en-US" sz="2400" dirty="0">
              <a:latin typeface="Times New Roman" panose="02020603050405020304" pitchFamily="18" charset="0"/>
              <a:cs typeface="Times New Roman" panose="02020603050405020304" pitchFamily="18" charset="0"/>
            </a:endParaRPr>
          </a:p>
          <a:p>
            <a:pPr marL="914400" lvl="2" indent="0" algn="just">
              <a:buFont typeface="Arial" panose="020B0604020202020204" pitchFamily="34" charset="0"/>
              <a:buNone/>
              <a:defRPr/>
            </a:pPr>
            <a:r>
              <a:rPr lang="en-US" altLang="en-US" sz="2400" dirty="0">
                <a:latin typeface="Times New Roman" panose="02020603050405020304" pitchFamily="18" charset="0"/>
                <a:cs typeface="Times New Roman" panose="02020603050405020304" pitchFamily="18" charset="0"/>
              </a:rPr>
              <a:t>• To summarize learning materials using transformer-based language models.</a:t>
            </a:r>
            <a:endParaRPr lang="en-US" altLang="en-US" sz="2400" dirty="0">
              <a:latin typeface="Times New Roman" panose="02020603050405020304" pitchFamily="18" charset="0"/>
              <a:cs typeface="Times New Roman" panose="02020603050405020304" pitchFamily="18" charset="0"/>
            </a:endParaRPr>
          </a:p>
          <a:p>
            <a:pPr marL="914400" lvl="2" indent="0" algn="just">
              <a:buFont typeface="Arial" panose="020B0604020202020204" pitchFamily="34" charset="0"/>
              <a:buNone/>
              <a:defRPr/>
            </a:pPr>
            <a:r>
              <a:rPr lang="en-US" altLang="en-US" sz="2400" dirty="0">
                <a:latin typeface="Times New Roman" panose="02020603050405020304" pitchFamily="18" charset="0"/>
                <a:cs typeface="Times New Roman" panose="02020603050405020304" pitchFamily="18" charset="0"/>
              </a:rPr>
              <a:t>• To generate natural speech narration using neural text-to-speech technology.</a:t>
            </a:r>
            <a:endParaRPr lang="en-US" altLang="en-US" sz="2400" dirty="0">
              <a:latin typeface="Times New Roman" panose="02020603050405020304" pitchFamily="18" charset="0"/>
              <a:cs typeface="Times New Roman" panose="02020603050405020304" pitchFamily="18" charset="0"/>
            </a:endParaRPr>
          </a:p>
          <a:p>
            <a:pPr marL="914400" lvl="2" indent="0" algn="just">
              <a:buFont typeface="Arial" panose="020B0604020202020204" pitchFamily="34" charset="0"/>
              <a:buNone/>
              <a:defRPr/>
            </a:pPr>
            <a:r>
              <a:rPr lang="en-US" altLang="en-US" sz="2400" dirty="0">
                <a:latin typeface="Times New Roman" panose="02020603050405020304" pitchFamily="18" charset="0"/>
                <a:cs typeface="Times New Roman" panose="02020603050405020304" pitchFamily="18" charset="0"/>
              </a:rPr>
              <a:t>• To create realistic avatars with accurate lip synchronization.</a:t>
            </a:r>
            <a:endParaRPr lang="en-US" altLang="en-US" sz="2400" dirty="0">
              <a:latin typeface="Times New Roman" panose="02020603050405020304" pitchFamily="18" charset="0"/>
              <a:cs typeface="Times New Roman" panose="02020603050405020304" pitchFamily="18" charset="0"/>
            </a:endParaRPr>
          </a:p>
          <a:p>
            <a:pPr marL="914400" lvl="2" indent="0" algn="just">
              <a:buFont typeface="Arial" panose="020B0604020202020204" pitchFamily="34" charset="0"/>
              <a:buNone/>
              <a:defRPr/>
            </a:pPr>
            <a:r>
              <a:rPr lang="en-US" altLang="en-US" sz="2400" dirty="0">
                <a:latin typeface="Times New Roman" panose="02020603050405020304" pitchFamily="18" charset="0"/>
                <a:cs typeface="Times New Roman" panose="02020603050405020304" pitchFamily="18" charset="0"/>
              </a:rPr>
              <a:t>• To provide a user-friendly platform for automated learning content creation.</a:t>
            </a:r>
            <a:endParaRPr lang="en-US" altLang="en-US" sz="2400" dirty="0">
              <a:latin typeface="Times New Roman" panose="02020603050405020304" pitchFamily="18" charset="0"/>
              <a:cs typeface="Times New Roman" panose="02020603050405020304" pitchFamily="18" charset="0"/>
            </a:endParaRPr>
          </a:p>
        </p:txBody>
      </p:sp>
      <p:sp>
        <p:nvSpPr>
          <p:cNvPr id="4100"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BD2AE06-6EDE-4A54-925B-CBD316D730C0}"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371600" y="3337560"/>
            <a:ext cx="6595745" cy="3383915"/>
          </a:xfrm>
        </p:spPr>
        <p:txBody>
          <a:bodyPr/>
          <a:p>
            <a:r>
              <a:rPr lang="en-US" altLang="en-US" sz="2400"/>
              <a:t>Online learning platforms</a:t>
            </a:r>
            <a:endParaRPr lang="en-US" altLang="en-US" sz="2400"/>
          </a:p>
          <a:p>
            <a:r>
              <a:rPr lang="en-US" altLang="en-US" sz="2400"/>
              <a:t>Digital classrooms</a:t>
            </a:r>
            <a:endParaRPr lang="en-US" altLang="en-US" sz="2400"/>
          </a:p>
          <a:p>
            <a:r>
              <a:rPr lang="en-US" altLang="en-US" sz="2400"/>
              <a:t>Remote education systems</a:t>
            </a:r>
            <a:endParaRPr lang="en-US" altLang="en-US" sz="2400"/>
          </a:p>
          <a:p>
            <a:r>
              <a:rPr lang="en-US" altLang="en-US" sz="2400"/>
              <a:t>Self-learning platforms for students</a:t>
            </a:r>
            <a:endParaRPr lang="en-US" altLang="en-US" sz="2400"/>
          </a:p>
          <a:p>
            <a:r>
              <a:rPr lang="en-US" altLang="en-US" sz="2400"/>
              <a:t>Educational content creation tools</a:t>
            </a:r>
            <a:endParaRPr lang="en-US" altLang="en-US" sz="2400"/>
          </a:p>
        </p:txBody>
      </p:sp>
      <p:sp>
        <p:nvSpPr>
          <p:cNvPr id="4" name="Slide Number Placeholder 3"/>
          <p:cNvSpPr>
            <a:spLocks noGrp="1"/>
          </p:cNvSpPr>
          <p:nvPr>
            <p:ph type="sldNum" sz="quarter" idx="12"/>
          </p:nvPr>
        </p:nvSpPr>
        <p:spPr/>
        <p:txBody>
          <a:bodyPr/>
          <a:p>
            <a:pPr>
              <a:defRPr/>
            </a:pPr>
            <a:fld id="{E0AA0814-68D7-4CF4-8432-4D9707D29DA4}" type="slidenum">
              <a:rPr lang="en-US" altLang="en-US"/>
            </a:fld>
            <a:endParaRPr lang="en-US" altLang="en-US"/>
          </a:p>
        </p:txBody>
      </p:sp>
      <p:sp>
        <p:nvSpPr>
          <p:cNvPr id="6" name="Text Box 5"/>
          <p:cNvSpPr txBox="1"/>
          <p:nvPr/>
        </p:nvSpPr>
        <p:spPr>
          <a:xfrm>
            <a:off x="381000" y="2743200"/>
            <a:ext cx="4572000" cy="460375"/>
          </a:xfrm>
          <a:prstGeom prst="rect">
            <a:avLst/>
          </a:prstGeom>
          <a:noFill/>
        </p:spPr>
        <p:txBody>
          <a:bodyPr wrap="square" rtlCol="0" anchor="t">
            <a:spAutoFit/>
          </a:bodyPr>
          <a:p>
            <a:r>
              <a:rPr lang="en-IN" altLang="en-US" sz="2400" b="1" u="sng" dirty="0">
                <a:solidFill>
                  <a:srgbClr val="C00000"/>
                </a:solidFill>
                <a:latin typeface="Times New Roman" panose="02020603050405020304" pitchFamily="18" charset="0"/>
                <a:cs typeface="Times New Roman" panose="02020603050405020304" pitchFamily="18" charset="0"/>
                <a:sym typeface="+mn-ea"/>
              </a:rPr>
              <a:t> Application</a:t>
            </a:r>
            <a:endParaRPr lang="en-IN" altLang="en-US" sz="2400" b="1" u="sng" dirty="0">
              <a:solidFill>
                <a:srgbClr val="C00000"/>
              </a:solidFill>
              <a:latin typeface="Times New Roman" panose="02020603050405020304" pitchFamily="18" charset="0"/>
              <a:cs typeface="Times New Roman" panose="02020603050405020304" pitchFamily="18" charset="0"/>
              <a:sym typeface="+mn-ea"/>
            </a:endParaRPr>
          </a:p>
        </p:txBody>
      </p:sp>
      <p:sp>
        <p:nvSpPr>
          <p:cNvPr id="7" name="Text Box 6"/>
          <p:cNvSpPr txBox="1"/>
          <p:nvPr/>
        </p:nvSpPr>
        <p:spPr>
          <a:xfrm>
            <a:off x="304800" y="762000"/>
            <a:ext cx="7903210" cy="1221105"/>
          </a:xfrm>
          <a:prstGeom prst="rect">
            <a:avLst/>
          </a:prstGeom>
          <a:noFill/>
        </p:spPr>
        <p:txBody>
          <a:bodyPr wrap="square" rtlCol="0" anchor="t">
            <a:noAutofit/>
          </a:bodyPr>
          <a:p>
            <a:pPr marL="0" indent="0" algn="just">
              <a:buFont typeface="Arial" panose="020B0604020202020204" pitchFamily="34" charset="0"/>
              <a:buNone/>
              <a:defRPr/>
            </a:pPr>
            <a:r>
              <a:rPr lang="en-US" altLang="en-US" sz="2400" b="1" u="sng" dirty="0">
                <a:solidFill>
                  <a:srgbClr val="C00000"/>
                </a:solidFill>
                <a:latin typeface="Times New Roman" panose="02020603050405020304" pitchFamily="18" charset="0"/>
                <a:cs typeface="Times New Roman" panose="02020603050405020304" pitchFamily="18" charset="0"/>
                <a:sym typeface="+mn-ea"/>
              </a:rPr>
              <a:t>Innovation</a:t>
            </a:r>
            <a:endParaRPr lang="en-US" altLang="en-US" sz="2400" b="1" u="sng" dirty="0">
              <a:solidFill>
                <a:srgbClr val="003399"/>
              </a:solidFill>
              <a:latin typeface="Times New Roman" panose="02020603050405020304" pitchFamily="18" charset="0"/>
              <a:cs typeface="Times New Roman" panose="02020603050405020304" pitchFamily="18" charset="0"/>
            </a:endParaRPr>
          </a:p>
          <a:p>
            <a:pPr marL="800100" lvl="1" indent="0" algn="just">
              <a:defRPr/>
            </a:pPr>
            <a:r>
              <a:rPr lang="en-US" altLang="en-US" sz="2400" dirty="0">
                <a:latin typeface="Times New Roman" panose="02020603050405020304" pitchFamily="18" charset="0"/>
                <a:cs typeface="Times New Roman" panose="02020603050405020304" pitchFamily="18" charset="0"/>
                <a:sym typeface="+mn-ea"/>
              </a:rPr>
              <a:t>Integration of AI content generation, speech synthesis, facial animation, and automated video rendering into a single educational system.Applications</a:t>
            </a:r>
            <a:endParaRPr lang="en-US" altLang="en-US" sz="24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457200" y="152400"/>
            <a:ext cx="8229600" cy="381000"/>
          </a:xfrm>
          <a:prstGeom prst="rect">
            <a:avLst/>
          </a:prstGeom>
        </p:spPr>
        <p:txBody>
          <a:bodyPr>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defRPr/>
            </a:pPr>
            <a:r>
              <a:rPr lang="en-US" sz="2800" b="1" dirty="0">
                <a:solidFill>
                  <a:srgbClr val="C00000"/>
                </a:solidFill>
                <a:latin typeface="Times New Roman" panose="02020603050405020304" pitchFamily="18" charset="0"/>
                <a:cs typeface="Times New Roman" panose="02020603050405020304" pitchFamily="18" charset="0"/>
              </a:rPr>
              <a:t>Literature Surve</a:t>
            </a:r>
            <a:r>
              <a:rPr lang="en-IN" altLang="en-US" sz="2800" b="1" dirty="0">
                <a:solidFill>
                  <a:srgbClr val="C00000"/>
                </a:solidFill>
                <a:latin typeface="Times New Roman" panose="02020603050405020304" pitchFamily="18" charset="0"/>
                <a:cs typeface="Times New Roman" panose="02020603050405020304" pitchFamily="18" charset="0"/>
              </a:rPr>
              <a:t>y</a:t>
            </a:r>
            <a:endParaRPr lang="en-IN" altLang="en-US" sz="2800" b="1" dirty="0">
              <a:solidFill>
                <a:srgbClr val="C00000"/>
              </a:solidFill>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custDataLst>
              <p:tags r:id="rId1"/>
            </p:custDataLst>
          </p:nvPr>
        </p:nvGraphicFramePr>
        <p:xfrm>
          <a:off x="0" y="816610"/>
          <a:ext cx="9095105" cy="5657215"/>
        </p:xfrm>
        <a:graphic>
          <a:graphicData uri="http://schemas.openxmlformats.org/drawingml/2006/table">
            <a:tbl>
              <a:tblPr firstRow="1" bandRow="1">
                <a:tableStyleId>{16D9F66E-5EB9-4882-86FB-DCBF35E3C3E4}</a:tableStyleId>
              </a:tblPr>
              <a:tblGrid>
                <a:gridCol w="1086485"/>
                <a:gridCol w="1475105"/>
                <a:gridCol w="2560955"/>
                <a:gridCol w="1397000"/>
                <a:gridCol w="2575560"/>
              </a:tblGrid>
              <a:tr h="701675">
                <a:tc>
                  <a:txBody>
                    <a:bodyPr/>
                    <a:lstStyle/>
                    <a:p>
                      <a:pPr algn="ctr"/>
                      <a:r>
                        <a:rPr lang="en-IN" sz="1900" dirty="0">
                          <a:latin typeface="Times New Roman" panose="02020603050405020304" pitchFamily="18" charset="0"/>
                          <a:cs typeface="Times New Roman" panose="02020603050405020304" pitchFamily="18" charset="0"/>
                        </a:rPr>
                        <a:t>Author</a:t>
                      </a:r>
                      <a:r>
                        <a:rPr lang="en-IN" sz="1900" baseline="0" dirty="0">
                          <a:latin typeface="Times New Roman" panose="02020603050405020304" pitchFamily="18" charset="0"/>
                          <a:cs typeface="Times New Roman" panose="02020603050405020304" pitchFamily="18" charset="0"/>
                        </a:rPr>
                        <a:t> Name</a:t>
                      </a:r>
                      <a:endParaRPr lang="en-IN" sz="1900" dirty="0">
                        <a:latin typeface="Times New Roman" panose="02020603050405020304" pitchFamily="18" charset="0"/>
                        <a:cs typeface="Times New Roman" panose="02020603050405020304" pitchFamily="18" charset="0"/>
                      </a:endParaRPr>
                    </a:p>
                  </a:txBody>
                  <a:tcPr marT="45731" marB="45731" anchor="ctr"/>
                </a:tc>
                <a:tc>
                  <a:txBody>
                    <a:bodyPr/>
                    <a:lstStyle/>
                    <a:p>
                      <a:pPr algn="ctr"/>
                      <a:r>
                        <a:rPr lang="en-IN" sz="1900" dirty="0">
                          <a:latin typeface="Times New Roman" panose="02020603050405020304" pitchFamily="18" charset="0"/>
                          <a:cs typeface="Times New Roman" panose="02020603050405020304" pitchFamily="18" charset="0"/>
                        </a:rPr>
                        <a:t>Name of the Journal</a:t>
                      </a:r>
                      <a:r>
                        <a:rPr lang="en-IN" sz="1900" baseline="0" dirty="0">
                          <a:latin typeface="Times New Roman" panose="02020603050405020304" pitchFamily="18" charset="0"/>
                          <a:cs typeface="Times New Roman" panose="02020603050405020304" pitchFamily="18" charset="0"/>
                        </a:rPr>
                        <a:t> </a:t>
                      </a:r>
                      <a:endParaRPr lang="en-IN" sz="1900" dirty="0">
                        <a:latin typeface="Times New Roman" panose="02020603050405020304" pitchFamily="18" charset="0"/>
                        <a:cs typeface="Times New Roman" panose="02020603050405020304" pitchFamily="18" charset="0"/>
                      </a:endParaRPr>
                    </a:p>
                  </a:txBody>
                  <a:tcPr marT="45731" marB="45731" anchor="ctr"/>
                </a:tc>
                <a:tc>
                  <a:txBody>
                    <a:bodyPr/>
                    <a:lstStyle/>
                    <a:p>
                      <a:pPr algn="ctr"/>
                      <a:r>
                        <a:rPr lang="en-IN" sz="1900" dirty="0">
                          <a:latin typeface="Times New Roman" panose="02020603050405020304" pitchFamily="18" charset="0"/>
                          <a:cs typeface="Times New Roman" panose="02020603050405020304" pitchFamily="18" charset="0"/>
                        </a:rPr>
                        <a:t>Title of the Paper</a:t>
                      </a:r>
                      <a:endParaRPr lang="en-IN" sz="1900" dirty="0">
                        <a:latin typeface="Times New Roman" panose="02020603050405020304" pitchFamily="18" charset="0"/>
                        <a:cs typeface="Times New Roman" panose="02020603050405020304" pitchFamily="18" charset="0"/>
                      </a:endParaRPr>
                    </a:p>
                  </a:txBody>
                  <a:tcPr marT="45731" marB="45731" anchor="ctr"/>
                </a:tc>
                <a:tc>
                  <a:txBody>
                    <a:bodyPr/>
                    <a:lstStyle/>
                    <a:p>
                      <a:pPr algn="ctr"/>
                      <a:r>
                        <a:rPr lang="en-IN" sz="1900" dirty="0">
                          <a:latin typeface="Times New Roman" panose="02020603050405020304" pitchFamily="18" charset="0"/>
                          <a:cs typeface="Times New Roman" panose="02020603050405020304" pitchFamily="18" charset="0"/>
                        </a:rPr>
                        <a:t>Year of Publication</a:t>
                      </a:r>
                      <a:endParaRPr lang="en-IN" sz="1900" dirty="0">
                        <a:latin typeface="Times New Roman" panose="02020603050405020304" pitchFamily="18" charset="0"/>
                        <a:cs typeface="Times New Roman" panose="02020603050405020304" pitchFamily="18" charset="0"/>
                      </a:endParaRPr>
                    </a:p>
                  </a:txBody>
                  <a:tcPr marT="45731" marB="45731" anchor="ctr"/>
                </a:tc>
                <a:tc>
                  <a:txBody>
                    <a:bodyPr/>
                    <a:lstStyle/>
                    <a:p>
                      <a:pPr algn="ctr"/>
                      <a:r>
                        <a:rPr lang="en-IN" sz="1900" dirty="0">
                          <a:latin typeface="Times New Roman" panose="02020603050405020304" pitchFamily="18" charset="0"/>
                          <a:cs typeface="Times New Roman" panose="02020603050405020304" pitchFamily="18" charset="0"/>
                        </a:rPr>
                        <a:t>Inference</a:t>
                      </a:r>
                      <a:endParaRPr lang="en-IN" sz="1900" dirty="0">
                        <a:latin typeface="Times New Roman" panose="02020603050405020304" pitchFamily="18" charset="0"/>
                        <a:cs typeface="Times New Roman" panose="02020603050405020304" pitchFamily="18" charset="0"/>
                      </a:endParaRPr>
                    </a:p>
                  </a:txBody>
                  <a:tcPr marT="45731" marB="45731" anchor="ctr"/>
                </a:tc>
              </a:tr>
              <a:tr h="1601470">
                <a:tc>
                  <a:txBody>
                    <a:bodyPr/>
                    <a:lstStyle/>
                    <a:p>
                      <a:pPr marL="0" indent="0">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Vaswani A., Shazeer N., Parmar N.</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c>
                  <a:txBody>
                    <a:bodyPr/>
                    <a:lstStyle/>
                    <a:p>
                      <a:pPr marL="0" indent="0">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Advances in Neural Information Processing Systems (NeurIPS)</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c>
                  <a:txBody>
                    <a:bodyPr/>
                    <a:lstStyle/>
                    <a:p>
                      <a:pPr marL="0" indent="0">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Attention Is All You Need</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c>
                  <a:txBody>
                    <a:bodyPr/>
                    <a:lstStyle/>
                    <a:p>
                      <a:pPr marL="0" indent="0">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2017</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c>
                  <a:txBody>
                    <a:bodyPr/>
                    <a:lstStyle/>
                    <a:p>
                      <a:pPr marL="0" indent="0" algn="just">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 Introduced Transformer architecture for NLP tasks </a:t>
                      </a:r>
                      <a:endParaRPr sz="1600">
                        <a:latin typeface="Times New Roman" panose="02020603050405020304" pitchFamily="18" charset="0"/>
                        <a:ea typeface="Calibri" panose="020F0502020204030204"/>
                        <a:cs typeface="Times New Roman" panose="02020603050405020304" pitchFamily="18" charset="0"/>
                      </a:endParaRPr>
                    </a:p>
                    <a:p>
                      <a:pPr marL="0" indent="0" algn="just">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 • Enables efficient text summarization and content generation</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r>
              <a:tr h="1657350">
                <a:tc>
                  <a:txBody>
                    <a:bodyPr/>
                    <a:lstStyle/>
                    <a:p>
                      <a:pPr marL="0" indent="0">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Oord A., Dieleman S., Zen H.</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c>
                  <a:txBody>
                    <a:bodyPr/>
                    <a:lstStyle/>
                    <a:p>
                      <a:pPr marL="0" indent="0">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Speech Synthesis Workshop</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c>
                  <a:txBody>
                    <a:bodyPr/>
                    <a:lstStyle/>
                    <a:p>
                      <a:pPr marL="0" indent="0">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WaveNet: A Generative Model for Raw Audio</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c>
                  <a:txBody>
                    <a:bodyPr/>
                    <a:lstStyle/>
                    <a:p>
                      <a:pPr marL="0" indent="0">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2016</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c>
                  <a:txBody>
                    <a:bodyPr/>
                    <a:lstStyle/>
                    <a:p>
                      <a:pPr marL="0" indent="0" algn="just">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 Neural network based speech synthesis model  </a:t>
                      </a:r>
                      <a:endParaRPr sz="1600">
                        <a:latin typeface="Times New Roman" panose="02020603050405020304" pitchFamily="18" charset="0"/>
                        <a:ea typeface="Calibri" panose="020F0502020204030204"/>
                        <a:cs typeface="Times New Roman" panose="02020603050405020304" pitchFamily="18" charset="0"/>
                      </a:endParaRPr>
                    </a:p>
                    <a:p>
                      <a:pPr marL="0" indent="0" algn="just">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 Produces natural and high-quality voice narration</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r>
              <a:tr h="1696720">
                <a:tc>
                  <a:txBody>
                    <a:bodyPr/>
                    <a:lstStyle/>
                    <a:p>
                      <a:pPr marL="270510" indent="0" algn="l">
                        <a:lnSpc>
                          <a:spcPct val="107000"/>
                        </a:lnSpc>
                        <a:spcBef>
                          <a:spcPct val="0"/>
                        </a:spcBef>
                        <a:spcAft>
                          <a:spcPts val="800"/>
                        </a:spcAft>
                      </a:pPr>
                      <a:r>
                        <a:rPr lang="en-US" altLang="en-US" sz="1600">
                          <a:latin typeface="Times New Roman" panose="02020603050405020304" pitchFamily="18" charset="0"/>
                          <a:ea typeface="Calibri" panose="020F0502020204030204"/>
                          <a:cs typeface="Times New Roman" panose="02020603050405020304" pitchFamily="18" charset="0"/>
                        </a:rPr>
                        <a:t>Prajwal K. R., Mukhopadhyay R., Namboodiri V.</a:t>
                      </a:r>
                      <a:endParaRPr lang="en-US" altLang="en-US"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c>
                  <a:txBody>
                    <a:bodyPr/>
                    <a:lstStyle/>
                    <a:p>
                      <a:pPr marL="270510" indent="0">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ACM Multimedia Conference</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c>
                  <a:txBody>
                    <a:bodyPr/>
                    <a:lstStyle/>
                    <a:p>
                      <a:pPr marL="270510" indent="0">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Wav2Lip: Accurately Lip-Syncing Videos to Any Speech</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c>
                  <a:txBody>
                    <a:bodyPr/>
                    <a:lstStyle/>
                    <a:p>
                      <a:pPr marL="270510" indent="0">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2020</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c>
                  <a:txBody>
                    <a:bodyPr/>
                    <a:lstStyle/>
                    <a:p>
                      <a:pPr marL="270510" indent="0" algn="just">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 Deep learning model for accurate lip synchronization </a:t>
                      </a:r>
                      <a:endParaRPr sz="1600">
                        <a:latin typeface="Times New Roman" panose="02020603050405020304" pitchFamily="18" charset="0"/>
                        <a:ea typeface="Calibri" panose="020F0502020204030204"/>
                        <a:cs typeface="Times New Roman" panose="02020603050405020304" pitchFamily="18" charset="0"/>
                      </a:endParaRPr>
                    </a:p>
                    <a:p>
                      <a:pPr marL="270510" indent="0" algn="just">
                        <a:lnSpc>
                          <a:spcPct val="107000"/>
                        </a:lnSpc>
                        <a:spcBef>
                          <a:spcPct val="0"/>
                        </a:spcBef>
                        <a:spcAft>
                          <a:spcPts val="800"/>
                        </a:spcAft>
                      </a:pPr>
                      <a:r>
                        <a:rPr sz="1600">
                          <a:latin typeface="Times New Roman" panose="02020603050405020304" pitchFamily="18" charset="0"/>
                          <a:ea typeface="Calibri" panose="020F0502020204030204"/>
                          <a:cs typeface="Times New Roman" panose="02020603050405020304" pitchFamily="18" charset="0"/>
                        </a:rPr>
                        <a:t> • Generates realistic talking-face videos</a:t>
                      </a:r>
                      <a:endParaRPr sz="1600">
                        <a:latin typeface="Times New Roman" panose="02020603050405020304" pitchFamily="18" charset="0"/>
                        <a:ea typeface="Calibri" panose="020F0502020204030204"/>
                        <a:cs typeface="Times New Roman" panose="02020603050405020304" pitchFamily="18" charset="0"/>
                      </a:endParaRPr>
                    </a:p>
                  </a:txBody>
                  <a:tcPr marL="9525" marR="9525" marT="9525" marB="9525" anchor="ctr" anchorCtr="0"/>
                </a:tc>
              </a:tr>
            </a:tbl>
          </a:graphicData>
        </a:graphic>
      </p:graphicFrame>
      <p:sp>
        <p:nvSpPr>
          <p:cNvPr id="515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4545C9E-DED4-41D9-93E6-46A841FC3717}"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0"/>
            <a:ext cx="8229600" cy="914400"/>
          </a:xfrm>
        </p:spPr>
        <p:txBody>
          <a:bodyPr/>
          <a:lstStyle/>
          <a:p>
            <a:pPr eaLnBrk="1" hangingPunct="1"/>
            <a:r>
              <a:rPr lang="en-US" altLang="en-US" b="1">
                <a:solidFill>
                  <a:srgbClr val="C00000"/>
                </a:solidFill>
                <a:latin typeface="Times New Roman" panose="02020603050405020304" pitchFamily="18" charset="0"/>
                <a:cs typeface="Times New Roman" panose="02020603050405020304" pitchFamily="18" charset="0"/>
              </a:rPr>
              <a:t>Design Document</a:t>
            </a:r>
            <a:endParaRPr lang="en-US" altLang="en-US" b="1">
              <a:solidFill>
                <a:srgbClr val="C0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546735" y="2779395"/>
            <a:ext cx="3632835" cy="3073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IN" sz="2400" u="sng" dirty="0">
                <a:solidFill>
                  <a:srgbClr val="003399"/>
                </a:solidFill>
              </a:rPr>
              <a:t>Work Breakdown Structure</a:t>
            </a:r>
            <a:endParaRPr lang="en-IN" sz="2400" u="sng" dirty="0">
              <a:solidFill>
                <a:srgbClr val="003399"/>
              </a:solidFill>
            </a:endParaRPr>
          </a:p>
        </p:txBody>
      </p:sp>
      <p:sp>
        <p:nvSpPr>
          <p:cNvPr id="70659" name="Content Placeholder 2"/>
          <p:cNvSpPr>
            <a:spLocks noGrp="1"/>
          </p:cNvSpPr>
          <p:nvPr>
            <p:ph idx="1"/>
          </p:nvPr>
        </p:nvSpPr>
        <p:spPr>
          <a:xfrm>
            <a:off x="228600" y="919164"/>
            <a:ext cx="8458200" cy="2255837"/>
          </a:xfrm>
        </p:spPr>
        <p:txBody>
          <a:bodyPr/>
          <a:lstStyle/>
          <a:p>
            <a:pPr marL="400050" lvl="1" indent="0" eaLnBrk="1" hangingPunct="1">
              <a:buFont typeface="Arial" panose="020B0604020202020204" pitchFamily="34" charset="0"/>
              <a:buNone/>
              <a:defRPr/>
            </a:pPr>
            <a:r>
              <a:rPr lang="en-US" altLang="en-US" b="1" u="sng" dirty="0">
                <a:solidFill>
                  <a:srgbClr val="C00000"/>
                </a:solidFill>
                <a:latin typeface="Times New Roman" panose="02020603050405020304" pitchFamily="18" charset="0"/>
                <a:cs typeface="Times New Roman" panose="02020603050405020304" pitchFamily="18" charset="0"/>
              </a:rPr>
              <a:t>A. Development Plan</a:t>
            </a:r>
            <a:endParaRPr lang="en-US" altLang="en-US" b="1" u="sng" dirty="0">
              <a:solidFill>
                <a:srgbClr val="C00000"/>
              </a:solidFill>
              <a:latin typeface="Times New Roman" panose="02020603050405020304" pitchFamily="18" charset="0"/>
              <a:cs typeface="Times New Roman" panose="02020603050405020304" pitchFamily="18" charset="0"/>
            </a:endParaRPr>
          </a:p>
          <a:p>
            <a:pPr marL="857250" lvl="1" indent="-457200" eaLnBrk="1" hangingPunct="1">
              <a:buFont typeface="Arial" panose="020B0604020202020204" pitchFamily="34" charset="0"/>
              <a:buNone/>
              <a:defRPr/>
            </a:pPr>
            <a:r>
              <a:rPr lang="en-US" altLang="en-US" sz="2400" dirty="0">
                <a:solidFill>
                  <a:srgbClr val="003399"/>
                </a:solidFill>
                <a:latin typeface="Times New Roman" panose="02020603050405020304" pitchFamily="18" charset="0"/>
                <a:cs typeface="Times New Roman" panose="02020603050405020304" pitchFamily="18" charset="0"/>
              </a:rPr>
              <a:t> </a:t>
            </a:r>
            <a:r>
              <a:rPr lang="en-US" altLang="en-US" sz="2400" u="sng" dirty="0">
                <a:solidFill>
                  <a:srgbClr val="003399"/>
                </a:solidFill>
                <a:latin typeface="Times New Roman" panose="02020603050405020304" pitchFamily="18" charset="0"/>
                <a:cs typeface="Times New Roman" panose="02020603050405020304" pitchFamily="18" charset="0"/>
              </a:rPr>
              <a:t>Deliverable</a:t>
            </a:r>
            <a:endParaRPr lang="en-US" altLang="en-US" sz="2400" dirty="0">
              <a:solidFill>
                <a:srgbClr val="C00000"/>
              </a:solidFill>
              <a:latin typeface="Times New Roman" panose="02020603050405020304" pitchFamily="18" charset="0"/>
              <a:cs typeface="Times New Roman" panose="02020603050405020304" pitchFamily="18" charset="0"/>
            </a:endParaRPr>
          </a:p>
          <a:p>
            <a:pPr marL="800100" lvl="2" indent="0" eaLnBrk="1" hangingPunct="1">
              <a:buFont typeface="Wingdings" panose="05000000000000000000" pitchFamily="2" charset="2"/>
              <a:buNone/>
              <a:defRPr/>
            </a:pPr>
            <a:r>
              <a:rPr lang="en-US" altLang="en-US" dirty="0">
                <a:latin typeface="Times New Roman" panose="02020603050405020304" pitchFamily="18" charset="0"/>
                <a:cs typeface="Times New Roman" panose="02020603050405020304" pitchFamily="18" charset="0"/>
              </a:rPr>
              <a:t>The development of the EduFace system follows a modular architecture consisting of multiple stages.</a:t>
            </a:r>
            <a:endParaRPr lang="en-US" altLang="en-US" dirty="0">
              <a:latin typeface="Times New Roman" panose="02020603050405020304" pitchFamily="18" charset="0"/>
              <a:cs typeface="Times New Roman" panose="02020603050405020304" pitchFamily="18" charset="0"/>
            </a:endParaRPr>
          </a:p>
        </p:txBody>
      </p:sp>
      <p:sp>
        <p:nvSpPr>
          <p:cNvPr id="617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302AF39-3C67-4AE0-8DA2-DC2BC3CCA4DE}"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sp>
        <p:nvSpPr>
          <p:cNvPr id="3" name="Text Box 2"/>
          <p:cNvSpPr txBox="1"/>
          <p:nvPr/>
        </p:nvSpPr>
        <p:spPr>
          <a:xfrm>
            <a:off x="759460" y="3251835"/>
            <a:ext cx="7597140" cy="2748280"/>
          </a:xfrm>
          <a:prstGeom prst="rect">
            <a:avLst/>
          </a:prstGeom>
        </p:spPr>
        <p:txBody>
          <a:bodyPr>
            <a:noAutofit/>
          </a:bodyPr>
          <a:p>
            <a:pPr indent="457200"/>
            <a:r>
              <a:rPr sz="2400">
                <a:latin typeface="Times New Roman" panose="02020603050405020304" pitchFamily="18" charset="0"/>
                <a:cs typeface="Times New Roman" panose="02020603050405020304" pitchFamily="18" charset="0"/>
              </a:rPr>
              <a:t>AI-based content generation module</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 Automatic PowerPoint slide generation module</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 Neural text-to-speech narration system</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 AI avatar generation using facial image</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 Lip synchronization using Wav2Lip model</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 Final video rendering system using multimedia processing tools</a:t>
            </a:r>
            <a:endParaRPr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0" y="0"/>
            <a:ext cx="3200400" cy="533400"/>
          </a:xfrm>
          <a:prstGeom prst="rect">
            <a:avLst/>
          </a:prstGeom>
        </p:spPr>
        <p:txBody>
          <a:bodyPr>
            <a:normAutofit/>
          </a:bodyPr>
          <a:lstStyle/>
          <a:p>
            <a:pPr eaLnBrk="1" fontAlgn="auto" hangingPunct="1">
              <a:spcAft>
                <a:spcPts val="0"/>
              </a:spcAft>
              <a:defRPr/>
            </a:pPr>
            <a:r>
              <a:rPr lang="en-US" sz="2800" u="sng" dirty="0">
                <a:solidFill>
                  <a:srgbClr val="003399"/>
                </a:solidFill>
                <a:latin typeface="Times New Roman" panose="02020603050405020304" pitchFamily="18" charset="0"/>
                <a:ea typeface="+mj-ea"/>
                <a:cs typeface="Times New Roman" panose="02020603050405020304" pitchFamily="18" charset="0"/>
              </a:rPr>
              <a:t>GANTT CHART</a:t>
            </a:r>
            <a:endParaRPr lang="en-US" sz="2800" u="sng" dirty="0">
              <a:solidFill>
                <a:srgbClr val="003399"/>
              </a:solidFill>
              <a:latin typeface="Times New Roman" panose="02020603050405020304" pitchFamily="18" charset="0"/>
              <a:ea typeface="+mj-ea"/>
              <a:cs typeface="Times New Roman" panose="02020603050405020304" pitchFamily="18" charset="0"/>
            </a:endParaRPr>
          </a:p>
        </p:txBody>
      </p:sp>
      <p:pic>
        <p:nvPicPr>
          <p:cNvPr id="6" name="Picture 5" descr="ChatGPT Image Mar 13, 2026, 10_13_14 PM"/>
          <p:cNvPicPr>
            <a:picLocks noChangeAspect="1"/>
          </p:cNvPicPr>
          <p:nvPr/>
        </p:nvPicPr>
        <p:blipFill>
          <a:blip r:embed="rId1"/>
          <a:stretch>
            <a:fillRect/>
          </a:stretch>
        </p:blipFill>
        <p:spPr>
          <a:xfrm>
            <a:off x="288290" y="675005"/>
            <a:ext cx="8610600" cy="5740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457200" y="304800"/>
            <a:ext cx="8458200" cy="1066800"/>
          </a:xfrm>
        </p:spPr>
        <p:txBody>
          <a:bodyPr/>
          <a:lstStyle/>
          <a:p>
            <a:pPr eaLnBrk="1" hangingPunct="1">
              <a:buFont typeface="Arial" panose="020B0604020202020204" pitchFamily="34" charset="0"/>
              <a:buNone/>
            </a:pPr>
            <a:r>
              <a:rPr lang="en-US" altLang="en-US" sz="2800" b="1" u="sng">
                <a:solidFill>
                  <a:srgbClr val="C00000"/>
                </a:solidFill>
                <a:latin typeface="Times New Roman" panose="02020603050405020304" pitchFamily="18" charset="0"/>
                <a:cs typeface="Times New Roman" panose="02020603050405020304" pitchFamily="18" charset="0"/>
              </a:rPr>
              <a:t>B. Design</a:t>
            </a:r>
            <a:endParaRPr lang="en-US" altLang="en-US" sz="2800" b="1" u="sng">
              <a:solidFill>
                <a:srgbClr val="C00000"/>
              </a:solidFill>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2800" u="sng">
                <a:solidFill>
                  <a:srgbClr val="003399"/>
                </a:solidFill>
                <a:latin typeface="Times New Roman" panose="02020603050405020304" pitchFamily="18" charset="0"/>
                <a:cs typeface="Times New Roman" panose="02020603050405020304" pitchFamily="18" charset="0"/>
              </a:rPr>
              <a:t>Project Requirements </a:t>
            </a:r>
            <a:r>
              <a:rPr lang="en-US" altLang="en-US" sz="2800" b="1">
                <a:latin typeface="Times New Roman" panose="02020603050405020304" pitchFamily="18" charset="0"/>
                <a:cs typeface="Times New Roman" panose="02020603050405020304" pitchFamily="18" charset="0"/>
              </a:rPr>
              <a:t>	</a:t>
            </a:r>
            <a:endParaRPr lang="en-US" altLang="en-US" sz="2800" b="1">
              <a:latin typeface="Times New Roman" panose="02020603050405020304" pitchFamily="18" charset="0"/>
              <a:cs typeface="Times New Roman" panose="02020603050405020304" pitchFamily="18" charset="0"/>
            </a:endParaRPr>
          </a:p>
        </p:txBody>
      </p:sp>
      <p:sp>
        <p:nvSpPr>
          <p:cNvPr id="8210"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53BC953-4738-4472-8C74-B02870836F18}"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sp>
        <p:nvSpPr>
          <p:cNvPr id="2" name="Text Box 1"/>
          <p:cNvSpPr txBox="1"/>
          <p:nvPr/>
        </p:nvSpPr>
        <p:spPr>
          <a:xfrm>
            <a:off x="399415" y="1487170"/>
            <a:ext cx="9138920" cy="4525645"/>
          </a:xfrm>
          <a:prstGeom prst="rect">
            <a:avLst/>
          </a:prstGeom>
        </p:spPr>
        <p:txBody>
          <a:bodyPr>
            <a:noAutofit/>
          </a:bodyPr>
          <a:p>
            <a:pPr>
              <a:spcAft>
                <a:spcPct val="60000"/>
              </a:spcAft>
            </a:pPr>
            <a:r>
              <a:rPr sz="2400" b="1">
                <a:latin typeface="Times New Roman" panose="02020603050405020304" pitchFamily="18" charset="0"/>
                <a:cs typeface="Times New Roman" panose="02020603050405020304" pitchFamily="18" charset="0"/>
              </a:rPr>
              <a:t>Hardware Requirements</a:t>
            </a:r>
            <a:endParaRPr sz="2400" b="1">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Intel Core i5 / AMD Ryzen 5 Processor</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 Minimum 8 GB RAM (16 GB recommended)</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 NVIDIA GPU (optional for AI acceleration)</a:t>
            </a:r>
            <a:endParaRPr sz="2400">
              <a:latin typeface="Times New Roman" panose="02020603050405020304" pitchFamily="18" charset="0"/>
              <a:cs typeface="Times New Roman" panose="02020603050405020304" pitchFamily="18" charset="0"/>
            </a:endParaRPr>
          </a:p>
          <a:p>
            <a:pPr>
              <a:spcAft>
                <a:spcPct val="60000"/>
              </a:spcAft>
            </a:pPr>
            <a:r>
              <a:rPr sz="2400" b="1">
                <a:latin typeface="Times New Roman" panose="02020603050405020304" pitchFamily="18" charset="0"/>
                <a:cs typeface="Times New Roman" panose="02020603050405020304" pitchFamily="18" charset="0"/>
              </a:rPr>
              <a:t>Software Requirements</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 ReactJS (Frontend Interface)</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 Flask Framework (Backend API)</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 Ollama for Local AI Model Execution</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 Wav2Lip Deep Learning Model</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 OpenCV and MediaPipe for Computer Vision</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 • MoviePy and FFmpeg for Video Rendering</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These technologies collectively support the development of a scalable AI-powered educational platform.</a:t>
            </a:r>
            <a:endParaRPr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228600" y="152717"/>
            <a:ext cx="8229600" cy="639763"/>
          </a:xfrm>
        </p:spPr>
        <p:txBody>
          <a:bodyPr/>
          <a:lstStyle/>
          <a:p>
            <a:pPr algn="l"/>
            <a:r>
              <a:rPr lang="en-US" altLang="en-US" sz="3600" u="sng">
                <a:solidFill>
                  <a:srgbClr val="003399"/>
                </a:solidFill>
                <a:latin typeface="Times New Roman" panose="02020603050405020304" pitchFamily="18" charset="0"/>
                <a:cs typeface="Times New Roman" panose="02020603050405020304" pitchFamily="18" charset="0"/>
              </a:rPr>
              <a:t>System Design Description</a:t>
            </a:r>
            <a:endParaRPr lang="en-US" altLang="en-US" sz="3600"/>
          </a:p>
        </p:txBody>
      </p:sp>
      <p:sp>
        <p:nvSpPr>
          <p:cNvPr id="10243" name="Content Placeholder 2"/>
          <p:cNvSpPr>
            <a:spLocks noGrp="1"/>
          </p:cNvSpPr>
          <p:nvPr>
            <p:ph idx="1"/>
          </p:nvPr>
        </p:nvSpPr>
        <p:spPr>
          <a:xfrm>
            <a:off x="283210" y="748030"/>
            <a:ext cx="8403590" cy="3519170"/>
          </a:xfrm>
        </p:spPr>
        <p:txBody>
          <a:bodyPr/>
          <a:lstStyle/>
          <a:p>
            <a:pPr marL="0" indent="457200" algn="just">
              <a:lnSpc>
                <a:spcPct val="150000"/>
              </a:lnSpc>
              <a:spcBef>
                <a:spcPct val="0"/>
              </a:spcBef>
              <a:buFont typeface="Calibri" panose="020F0502020204030204" pitchFamily="34" charset="0"/>
              <a:buNone/>
            </a:pPr>
            <a:r>
              <a:rPr lang="en-US" altLang="en-US" sz="2000">
                <a:latin typeface="Times New Roman" panose="02020603050405020304" pitchFamily="18" charset="0"/>
                <a:cs typeface="Times New Roman" panose="02020603050405020304" pitchFamily="18" charset="0"/>
              </a:rPr>
              <a:t>The EduFace system follows a web-based architecture integrating multiple AI modules to automatically generate educational videos.</a:t>
            </a:r>
            <a:endParaRPr lang="en-US" altLang="en-US" sz="2000">
              <a:latin typeface="Times New Roman" panose="02020603050405020304" pitchFamily="18" charset="0"/>
              <a:cs typeface="Times New Roman" panose="02020603050405020304" pitchFamily="18" charset="0"/>
            </a:endParaRPr>
          </a:p>
          <a:p>
            <a:pPr marL="0" indent="0" algn="just">
              <a:lnSpc>
                <a:spcPct val="150000"/>
              </a:lnSpc>
              <a:spcBef>
                <a:spcPct val="0"/>
              </a:spcBef>
              <a:buFont typeface="Calibri" panose="020F0502020204030204" pitchFamily="34" charset="0"/>
              <a:buNone/>
            </a:pPr>
            <a:r>
              <a:rPr lang="en-US" altLang="en-US" sz="2000" b="1">
                <a:latin typeface="Times New Roman" panose="02020603050405020304" pitchFamily="18" charset="0"/>
                <a:cs typeface="Times New Roman" panose="02020603050405020304" pitchFamily="18" charset="0"/>
              </a:rPr>
              <a:t>Frontend:</a:t>
            </a:r>
            <a:r>
              <a:rPr lang="en-US" altLang="en-US" sz="2000">
                <a:latin typeface="Times New Roman" panose="02020603050405020304" pitchFamily="18" charset="0"/>
                <a:cs typeface="Times New Roman" panose="02020603050405020304" pitchFamily="18" charset="0"/>
              </a:rPr>
              <a:t> A React-based interface where users upload learning materials and a facial image of the AI teacher.</a:t>
            </a:r>
            <a:endParaRPr lang="en-US" altLang="en-US" sz="2000">
              <a:latin typeface="Times New Roman" panose="02020603050405020304" pitchFamily="18" charset="0"/>
              <a:cs typeface="Times New Roman" panose="02020603050405020304" pitchFamily="18" charset="0"/>
            </a:endParaRPr>
          </a:p>
          <a:p>
            <a:pPr marL="0" indent="0" algn="just">
              <a:lnSpc>
                <a:spcPct val="150000"/>
              </a:lnSpc>
              <a:spcBef>
                <a:spcPct val="0"/>
              </a:spcBef>
              <a:buFont typeface="Calibri" panose="020F0502020204030204" pitchFamily="34" charset="0"/>
              <a:buNone/>
            </a:pPr>
            <a:r>
              <a:rPr lang="en-US" altLang="en-US" sz="2000" b="1">
                <a:latin typeface="Times New Roman" panose="02020603050405020304" pitchFamily="18" charset="0"/>
                <a:cs typeface="Times New Roman" panose="02020603050405020304" pitchFamily="18" charset="0"/>
              </a:rPr>
              <a:t>Backend:</a:t>
            </a:r>
            <a:r>
              <a:rPr lang="en-US" altLang="en-US" sz="2000">
                <a:latin typeface="Times New Roman" panose="02020603050405020304" pitchFamily="18" charset="0"/>
                <a:cs typeface="Times New Roman" panose="02020603050405020304" pitchFamily="18" charset="0"/>
              </a:rPr>
              <a:t> A Flask server that manages system operations and handles communication between different modules.</a:t>
            </a:r>
            <a:endParaRPr lang="en-US" altLang="en-US" sz="2000">
              <a:latin typeface="Times New Roman" panose="02020603050405020304" pitchFamily="18" charset="0"/>
              <a:cs typeface="Times New Roman" panose="02020603050405020304" pitchFamily="18" charset="0"/>
            </a:endParaRPr>
          </a:p>
          <a:p>
            <a:pPr marL="0" indent="0" algn="just">
              <a:lnSpc>
                <a:spcPct val="150000"/>
              </a:lnSpc>
              <a:spcBef>
                <a:spcPct val="0"/>
              </a:spcBef>
              <a:buFont typeface="Calibri" panose="020F0502020204030204" pitchFamily="34" charset="0"/>
              <a:buNone/>
            </a:pPr>
            <a:r>
              <a:rPr lang="en-US" altLang="en-US" sz="2000" b="1">
                <a:latin typeface="Times New Roman" panose="02020603050405020304" pitchFamily="18" charset="0"/>
                <a:cs typeface="Times New Roman" panose="02020603050405020304" pitchFamily="18" charset="0"/>
              </a:rPr>
              <a:t>AI Modules:</a:t>
            </a:r>
            <a:endParaRPr lang="en-US" altLang="en-US" sz="2000" b="1">
              <a:latin typeface="Times New Roman" panose="02020603050405020304" pitchFamily="18" charset="0"/>
              <a:cs typeface="Times New Roman" panose="02020603050405020304" pitchFamily="18" charset="0"/>
            </a:endParaRPr>
          </a:p>
          <a:p>
            <a:pPr marL="0" indent="0" algn="just">
              <a:lnSpc>
                <a:spcPct val="150000"/>
              </a:lnSpc>
              <a:spcBef>
                <a:spcPct val="0"/>
              </a:spcBef>
              <a:buFont typeface="Calibri" panose="020F0502020204030204" pitchFamily="34" charset="0"/>
              <a:buNone/>
            </a:pPr>
            <a:r>
              <a:rPr lang="en-US" altLang="en-US" sz="2000">
                <a:latin typeface="Times New Roman" panose="02020603050405020304" pitchFamily="18" charset="0"/>
                <a:cs typeface="Times New Roman" panose="02020603050405020304" pitchFamily="18" charset="0"/>
              </a:rPr>
              <a:t>• Mistral (Ollama) – Generates educational content</a:t>
            </a:r>
            <a:endParaRPr lang="en-US" altLang="en-US" sz="2000">
              <a:latin typeface="Times New Roman" panose="02020603050405020304" pitchFamily="18" charset="0"/>
              <a:cs typeface="Times New Roman" panose="02020603050405020304" pitchFamily="18" charset="0"/>
            </a:endParaRPr>
          </a:p>
          <a:p>
            <a:pPr marL="0" indent="0" algn="just">
              <a:lnSpc>
                <a:spcPct val="150000"/>
              </a:lnSpc>
              <a:spcBef>
                <a:spcPct val="0"/>
              </a:spcBef>
              <a:buFont typeface="Calibri" panose="020F0502020204030204" pitchFamily="34" charset="0"/>
              <a:buNone/>
            </a:pPr>
            <a:r>
              <a:rPr lang="en-US" altLang="en-US" sz="2000">
                <a:latin typeface="Times New Roman" panose="02020603050405020304" pitchFamily="18" charset="0"/>
                <a:cs typeface="Times New Roman" panose="02020603050405020304" pitchFamily="18" charset="0"/>
              </a:rPr>
              <a:t>• Text-to-Speech – Produces voice narration</a:t>
            </a:r>
            <a:endParaRPr lang="en-US" altLang="en-US" sz="2000">
              <a:latin typeface="Times New Roman" panose="02020603050405020304" pitchFamily="18" charset="0"/>
              <a:cs typeface="Times New Roman" panose="02020603050405020304" pitchFamily="18" charset="0"/>
            </a:endParaRPr>
          </a:p>
          <a:p>
            <a:pPr marL="0" indent="0" algn="just">
              <a:lnSpc>
                <a:spcPct val="150000"/>
              </a:lnSpc>
              <a:spcBef>
                <a:spcPct val="0"/>
              </a:spcBef>
              <a:buFont typeface="Calibri" panose="020F0502020204030204" pitchFamily="34" charset="0"/>
              <a:buNone/>
            </a:pPr>
            <a:r>
              <a:rPr lang="en-US" altLang="en-US" sz="2000">
                <a:latin typeface="Times New Roman" panose="02020603050405020304" pitchFamily="18" charset="0"/>
                <a:cs typeface="Times New Roman" panose="02020603050405020304" pitchFamily="18" charset="0"/>
              </a:rPr>
              <a:t>• Wav2Lip – Synchronizes lip movements with speech</a:t>
            </a:r>
            <a:endParaRPr lang="en-US" altLang="en-US" sz="2000">
              <a:latin typeface="Times New Roman" panose="02020603050405020304" pitchFamily="18" charset="0"/>
              <a:cs typeface="Times New Roman" panose="02020603050405020304" pitchFamily="18" charset="0"/>
            </a:endParaRPr>
          </a:p>
          <a:p>
            <a:pPr marL="0" indent="0" algn="just">
              <a:lnSpc>
                <a:spcPct val="150000"/>
              </a:lnSpc>
              <a:spcBef>
                <a:spcPct val="0"/>
              </a:spcBef>
              <a:buFont typeface="Calibri" panose="020F0502020204030204" pitchFamily="34" charset="0"/>
              <a:buNone/>
            </a:pPr>
            <a:r>
              <a:rPr lang="en-US" altLang="en-US" sz="2000">
                <a:latin typeface="Times New Roman" panose="02020603050405020304" pitchFamily="18" charset="0"/>
                <a:cs typeface="Times New Roman" panose="02020603050405020304" pitchFamily="18" charset="0"/>
              </a:rPr>
              <a:t>• OpenCV / MediaPipe – Performs facial detection and processing</a:t>
            </a:r>
            <a:endParaRPr lang="en-US" altLang="en-US" sz="2000">
              <a:latin typeface="Times New Roman" panose="02020603050405020304" pitchFamily="18" charset="0"/>
              <a:cs typeface="Times New Roman" panose="02020603050405020304" pitchFamily="18" charset="0"/>
            </a:endParaRPr>
          </a:p>
          <a:p>
            <a:pPr marL="0" indent="0" algn="just">
              <a:lnSpc>
                <a:spcPct val="150000"/>
              </a:lnSpc>
              <a:spcBef>
                <a:spcPct val="0"/>
              </a:spcBef>
              <a:buFont typeface="Calibri" panose="020F0502020204030204" pitchFamily="34" charset="0"/>
              <a:buNone/>
            </a:pPr>
            <a:r>
              <a:rPr lang="en-US" altLang="en-US" sz="2000" b="1">
                <a:latin typeface="Times New Roman" panose="02020603050405020304" pitchFamily="18" charset="0"/>
                <a:cs typeface="Times New Roman" panose="02020603050405020304" pitchFamily="18" charset="0"/>
              </a:rPr>
              <a:t>Multimedia Processing:</a:t>
            </a:r>
            <a:r>
              <a:rPr lang="en-US" altLang="en-US" sz="2000">
                <a:latin typeface="Times New Roman" panose="02020603050405020304" pitchFamily="18" charset="0"/>
                <a:cs typeface="Times New Roman" panose="02020603050405020304" pitchFamily="18" charset="0"/>
              </a:rPr>
              <a:t>MoviePy and FFmpeg combine slides, narration audio, and the animated avatar to generate the final educational video.</a:t>
            </a:r>
            <a:endParaRPr lang="en-US" altLang="en-US" sz="2000">
              <a:latin typeface="Times New Roman" panose="02020603050405020304" pitchFamily="18" charset="0"/>
              <a:cs typeface="Times New Roman" panose="02020603050405020304" pitchFamily="18" charset="0"/>
            </a:endParaRPr>
          </a:p>
        </p:txBody>
      </p:sp>
      <p:sp>
        <p:nvSpPr>
          <p:cNvPr id="102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002C330-7ABD-4C53-BFEB-D1CC325157A9}"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p:cNvSpPr>
            <a:spLocks noGrp="1"/>
          </p:cNvSpPr>
          <p:nvPr>
            <p:ph idx="1"/>
          </p:nvPr>
        </p:nvSpPr>
        <p:spPr>
          <a:xfrm>
            <a:off x="533400" y="381000"/>
            <a:ext cx="7543800" cy="685800"/>
          </a:xfrm>
        </p:spPr>
        <p:txBody>
          <a:bodyPr/>
          <a:lstStyle/>
          <a:p>
            <a:pPr eaLnBrk="1" hangingPunct="1">
              <a:buFont typeface="Arial" panose="020B0604020202020204" pitchFamily="34" charset="0"/>
              <a:buNone/>
            </a:pPr>
            <a:r>
              <a:rPr lang="en-US" altLang="en-US" b="1" u="sng">
                <a:solidFill>
                  <a:srgbClr val="C00000"/>
                </a:solidFill>
                <a:latin typeface="Times New Roman" panose="02020603050405020304" pitchFamily="18" charset="0"/>
                <a:cs typeface="Times New Roman" panose="02020603050405020304" pitchFamily="18" charset="0"/>
              </a:rPr>
              <a:t>C. Acceptance Plan</a:t>
            </a:r>
            <a:endParaRPr lang="en-US" altLang="en-US" b="1" u="sng">
              <a:solidFill>
                <a:srgbClr val="C00000"/>
              </a:solidFill>
              <a:latin typeface="Times New Roman" panose="02020603050405020304" pitchFamily="18" charset="0"/>
              <a:cs typeface="Times New Roman" panose="02020603050405020304" pitchFamily="18" charset="0"/>
            </a:endParaRPr>
          </a:p>
        </p:txBody>
      </p:sp>
      <p:sp>
        <p:nvSpPr>
          <p:cNvPr id="1128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C18A11E-829F-426B-AEEA-7220885D69EE}"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sp>
        <p:nvSpPr>
          <p:cNvPr id="2" name="Text Box 1"/>
          <p:cNvSpPr txBox="1"/>
          <p:nvPr/>
        </p:nvSpPr>
        <p:spPr>
          <a:xfrm>
            <a:off x="255905" y="1066165"/>
            <a:ext cx="8894445" cy="5563870"/>
          </a:xfrm>
          <a:prstGeom prst="rect">
            <a:avLst/>
          </a:prstGeom>
        </p:spPr>
        <p:txBody>
          <a:bodyPr>
            <a:noAutofit/>
          </a:bodyPr>
          <a:p>
            <a:pPr indent="457200"/>
            <a:r>
              <a:rPr sz="2000">
                <a:latin typeface="Times New Roman" panose="02020603050405020304" pitchFamily="18" charset="0"/>
                <a:cs typeface="Times New Roman" panose="02020603050405020304" pitchFamily="18" charset="0"/>
              </a:rPr>
              <a:t>The system was evaluated using multiple academic topics to ensure proper functionality.</a:t>
            </a:r>
            <a:endParaRPr sz="2000">
              <a:latin typeface="Times New Roman" panose="02020603050405020304" pitchFamily="18" charset="0"/>
              <a:cs typeface="Times New Roman" panose="02020603050405020304" pitchFamily="18" charset="0"/>
            </a:endParaRPr>
          </a:p>
          <a:p>
            <a:pPr>
              <a:spcAft>
                <a:spcPct val="60000"/>
              </a:spcAft>
            </a:pPr>
            <a:r>
              <a:rPr sz="2000" b="1">
                <a:latin typeface="Times New Roman" panose="02020603050405020304" pitchFamily="18" charset="0"/>
                <a:cs typeface="Times New Roman" panose="02020603050405020304" pitchFamily="18" charset="0"/>
              </a:rPr>
              <a:t>Testing Parameters</a:t>
            </a:r>
            <a:endParaRPr sz="2000" b="1">
              <a:latin typeface="Times New Roman" panose="02020603050405020304" pitchFamily="18" charset="0"/>
              <a:cs typeface="Times New Roman" panose="02020603050405020304" pitchFamily="18" charset="0"/>
            </a:endParaRPr>
          </a:p>
          <a:p>
            <a:pPr lvl="1"/>
            <a:r>
              <a:rPr lang="en-IN"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 Accuracy of AI-generated educational content</a:t>
            </a:r>
            <a:endParaRPr sz="2000">
              <a:latin typeface="Times New Roman" panose="02020603050405020304" pitchFamily="18" charset="0"/>
              <a:cs typeface="Times New Roman" panose="02020603050405020304" pitchFamily="18" charset="0"/>
            </a:endParaRPr>
          </a:p>
          <a:p>
            <a:pPr lvl="1"/>
            <a:r>
              <a:rPr sz="2000">
                <a:latin typeface="Times New Roman" panose="02020603050405020304" pitchFamily="18" charset="0"/>
                <a:cs typeface="Times New Roman" panose="02020603050405020304" pitchFamily="18" charset="0"/>
              </a:rPr>
              <a:t> • Quality of automatically generated presentation slides</a:t>
            </a:r>
            <a:endParaRPr sz="2000">
              <a:latin typeface="Times New Roman" panose="02020603050405020304" pitchFamily="18" charset="0"/>
              <a:cs typeface="Times New Roman" panose="02020603050405020304" pitchFamily="18" charset="0"/>
            </a:endParaRPr>
          </a:p>
          <a:p>
            <a:pPr lvl="1"/>
            <a:r>
              <a:rPr sz="2000">
                <a:latin typeface="Times New Roman" panose="02020603050405020304" pitchFamily="18" charset="0"/>
                <a:cs typeface="Times New Roman" panose="02020603050405020304" pitchFamily="18" charset="0"/>
              </a:rPr>
              <a:t> • Naturalness of speech narration</a:t>
            </a:r>
            <a:endParaRPr sz="2000">
              <a:latin typeface="Times New Roman" panose="02020603050405020304" pitchFamily="18" charset="0"/>
              <a:cs typeface="Times New Roman" panose="02020603050405020304" pitchFamily="18" charset="0"/>
            </a:endParaRPr>
          </a:p>
          <a:p>
            <a:pPr lvl="1"/>
            <a:r>
              <a:rPr sz="2000">
                <a:latin typeface="Times New Roman" panose="02020603050405020304" pitchFamily="18" charset="0"/>
                <a:cs typeface="Times New Roman" panose="02020603050405020304" pitchFamily="18" charset="0"/>
              </a:rPr>
              <a:t> • Precision of lip synchronization</a:t>
            </a:r>
            <a:endParaRPr sz="2000">
              <a:latin typeface="Times New Roman" panose="02020603050405020304" pitchFamily="18" charset="0"/>
              <a:cs typeface="Times New Roman" panose="02020603050405020304" pitchFamily="18" charset="0"/>
            </a:endParaRPr>
          </a:p>
          <a:p>
            <a:pPr lvl="1"/>
            <a:r>
              <a:rPr sz="2000">
                <a:latin typeface="Times New Roman" panose="02020603050405020304" pitchFamily="18" charset="0"/>
                <a:cs typeface="Times New Roman" panose="02020603050405020304" pitchFamily="18" charset="0"/>
              </a:rPr>
              <a:t> • Overall video rendering performance</a:t>
            </a:r>
            <a:endParaRPr sz="2000">
              <a:latin typeface="Times New Roman" panose="02020603050405020304" pitchFamily="18" charset="0"/>
              <a:cs typeface="Times New Roman" panose="02020603050405020304" pitchFamily="18" charset="0"/>
            </a:endParaRPr>
          </a:p>
          <a:p>
            <a:pPr>
              <a:spcAft>
                <a:spcPct val="60000"/>
              </a:spcAft>
            </a:pPr>
            <a:r>
              <a:rPr sz="2000" b="1">
                <a:latin typeface="Times New Roman" panose="02020603050405020304" pitchFamily="18" charset="0"/>
                <a:cs typeface="Times New Roman" panose="02020603050405020304" pitchFamily="18" charset="0"/>
              </a:rPr>
              <a:t>Validation Process</a:t>
            </a:r>
            <a:endParaRPr sz="2000" b="1">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sz="2000">
                <a:latin typeface="Times New Roman" panose="02020603050405020304" pitchFamily="18" charset="0"/>
                <a:cs typeface="Times New Roman" panose="02020603050405020304" pitchFamily="18" charset="0"/>
              </a:rPr>
              <a:t>Upload learning materials or topic prompts</a:t>
            </a:r>
            <a:endParaRPr sz="200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sz="2000">
                <a:latin typeface="Times New Roman" panose="02020603050405020304" pitchFamily="18" charset="0"/>
                <a:cs typeface="Times New Roman" panose="02020603050405020304" pitchFamily="18" charset="0"/>
              </a:rPr>
              <a:t>Verify AI-generated educational content</a:t>
            </a:r>
            <a:endParaRPr sz="200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sz="2000">
                <a:latin typeface="Times New Roman" panose="02020603050405020304" pitchFamily="18" charset="0"/>
                <a:cs typeface="Times New Roman" panose="02020603050405020304" pitchFamily="18" charset="0"/>
              </a:rPr>
              <a:t>Validate slide formatting and structure</a:t>
            </a:r>
            <a:endParaRPr sz="200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sz="2000">
                <a:latin typeface="Times New Roman" panose="02020603050405020304" pitchFamily="18" charset="0"/>
                <a:cs typeface="Times New Roman" panose="02020603050405020304" pitchFamily="18" charset="0"/>
              </a:rPr>
              <a:t>Check synchronization accuracy between speech and avatar</a:t>
            </a:r>
            <a:endParaRPr sz="200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sz="2000">
                <a:latin typeface="Times New Roman" panose="02020603050405020304" pitchFamily="18" charset="0"/>
                <a:cs typeface="Times New Roman" panose="02020603050405020304" pitchFamily="18" charset="0"/>
              </a:rPr>
              <a:t>Evaluate final video output quality</a:t>
            </a:r>
            <a:endParaRPr sz="200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sz="2000">
                <a:latin typeface="Times New Roman" panose="02020603050405020304" pitchFamily="18" charset="0"/>
                <a:cs typeface="Times New Roman" panose="02020603050405020304" pitchFamily="18" charset="0"/>
              </a:rPr>
              <a:t>Successful completion of these tests confirms system reliability.</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274637"/>
            <a:ext cx="8534400" cy="1143000"/>
          </a:xfrm>
        </p:spPr>
        <p:txBody>
          <a:bodyPr/>
          <a:lstStyle/>
          <a:p>
            <a:pPr algn="l" eaLnBrk="1" hangingPunct="1"/>
            <a:r>
              <a:rPr lang="en-US" altLang="en-US" b="1" u="sng">
                <a:solidFill>
                  <a:srgbClr val="C00000"/>
                </a:solidFill>
                <a:latin typeface="Times New Roman" panose="02020603050405020304" pitchFamily="18" charset="0"/>
                <a:cs typeface="Times New Roman" panose="02020603050405020304" pitchFamily="18" charset="0"/>
              </a:rPr>
              <a:t>D. Results</a:t>
            </a:r>
            <a:endParaRPr lang="en-US" altLang="en-US" b="1" u="sng">
              <a:solidFill>
                <a:srgbClr val="C00000"/>
              </a:solidFill>
              <a:latin typeface="Times New Roman" panose="02020603050405020304" pitchFamily="18" charset="0"/>
              <a:cs typeface="Times New Roman" panose="02020603050405020304" pitchFamily="18" charset="0"/>
            </a:endParaRPr>
          </a:p>
        </p:txBody>
      </p:sp>
      <p:pic>
        <p:nvPicPr>
          <p:cNvPr id="11" name="Picture 4" descr="output 2"/>
          <p:cNvPicPr>
            <a:picLocks noChangeAspect="1"/>
          </p:cNvPicPr>
          <p:nvPr>
            <p:ph idx="1"/>
          </p:nvPr>
        </p:nvPicPr>
        <p:blipFill>
          <a:blip r:embed="rId1"/>
          <a:stretch>
            <a:fillRect/>
          </a:stretch>
        </p:blipFill>
        <p:spPr>
          <a:xfrm>
            <a:off x="1019175" y="1524000"/>
            <a:ext cx="7400925" cy="4293235"/>
          </a:xfrm>
          <a:prstGeom prst="rect">
            <a:avLst/>
          </a:prstGeom>
        </p:spPr>
      </p:pic>
      <p:sp>
        <p:nvSpPr>
          <p:cNvPr id="1229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E3B10B4-6EA4-4322-9775-DC1D33E6E40B}"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274637"/>
            <a:ext cx="8534400" cy="1143000"/>
          </a:xfrm>
        </p:spPr>
        <p:txBody>
          <a:bodyPr/>
          <a:lstStyle/>
          <a:p>
            <a:pPr algn="l" eaLnBrk="1" hangingPunct="1"/>
            <a:r>
              <a:rPr lang="en-US" altLang="en-US" b="1" u="sng">
                <a:solidFill>
                  <a:srgbClr val="C00000"/>
                </a:solidFill>
                <a:latin typeface="Times New Roman" panose="02020603050405020304" pitchFamily="18" charset="0"/>
                <a:cs typeface="Times New Roman" panose="02020603050405020304" pitchFamily="18" charset="0"/>
              </a:rPr>
              <a:t>D. Results</a:t>
            </a:r>
            <a:endParaRPr lang="en-US" altLang="en-US" b="1" u="sng">
              <a:solidFill>
                <a:srgbClr val="C00000"/>
              </a:solidFill>
              <a:latin typeface="Times New Roman" panose="02020603050405020304" pitchFamily="18" charset="0"/>
              <a:cs typeface="Times New Roman" panose="02020603050405020304" pitchFamily="18" charset="0"/>
            </a:endParaRPr>
          </a:p>
        </p:txBody>
      </p:sp>
      <p:pic>
        <p:nvPicPr>
          <p:cNvPr id="3" name="Content Placeholder 2" descr="output 3"/>
          <p:cNvPicPr>
            <a:picLocks noChangeAspect="1"/>
          </p:cNvPicPr>
          <p:nvPr>
            <p:ph idx="1"/>
          </p:nvPr>
        </p:nvPicPr>
        <p:blipFill>
          <a:blip r:embed="rId1"/>
          <a:stretch>
            <a:fillRect/>
          </a:stretch>
        </p:blipFill>
        <p:spPr>
          <a:xfrm>
            <a:off x="1371600" y="1828800"/>
            <a:ext cx="6823710" cy="3867785"/>
          </a:xfrm>
          <a:prstGeom prst="rect">
            <a:avLst/>
          </a:prstGeom>
        </p:spPr>
      </p:pic>
      <p:sp>
        <p:nvSpPr>
          <p:cNvPr id="1229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E3B10B4-6EA4-4322-9775-DC1D33E6E40B}"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274637"/>
            <a:ext cx="8534400" cy="1143000"/>
          </a:xfrm>
        </p:spPr>
        <p:txBody>
          <a:bodyPr/>
          <a:lstStyle/>
          <a:p>
            <a:pPr algn="l" eaLnBrk="1" hangingPunct="1"/>
            <a:r>
              <a:rPr lang="en-US" altLang="en-US" b="1" u="sng">
                <a:solidFill>
                  <a:srgbClr val="C00000"/>
                </a:solidFill>
                <a:latin typeface="Times New Roman" panose="02020603050405020304" pitchFamily="18" charset="0"/>
                <a:cs typeface="Times New Roman" panose="02020603050405020304" pitchFamily="18" charset="0"/>
              </a:rPr>
              <a:t>D. Results</a:t>
            </a:r>
            <a:endParaRPr lang="en-US" altLang="en-US" b="1" u="sng">
              <a:solidFill>
                <a:srgbClr val="C00000"/>
              </a:solidFill>
              <a:latin typeface="Times New Roman" panose="02020603050405020304" pitchFamily="18" charset="0"/>
              <a:cs typeface="Times New Roman" panose="02020603050405020304" pitchFamily="18" charset="0"/>
            </a:endParaRPr>
          </a:p>
        </p:txBody>
      </p:sp>
      <p:sp>
        <p:nvSpPr>
          <p:cNvPr id="1229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E3B10B4-6EA4-4322-9775-DC1D33E6E40B}"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pic>
        <p:nvPicPr>
          <p:cNvPr id="4" name="Content Placeholder 3"/>
          <p:cNvPicPr>
            <a:picLocks noChangeAspect="1"/>
          </p:cNvPicPr>
          <p:nvPr>
            <p:ph idx="1"/>
          </p:nvPr>
        </p:nvPicPr>
        <p:blipFill>
          <a:blip r:embed="rId1"/>
          <a:stretch>
            <a:fillRect/>
          </a:stretch>
        </p:blipFill>
        <p:spPr>
          <a:xfrm>
            <a:off x="457200" y="1713865"/>
            <a:ext cx="8229600" cy="39630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274637"/>
            <a:ext cx="8534400" cy="1143000"/>
          </a:xfrm>
        </p:spPr>
        <p:txBody>
          <a:bodyPr/>
          <a:lstStyle/>
          <a:p>
            <a:pPr algn="l" eaLnBrk="1" hangingPunct="1"/>
            <a:r>
              <a:rPr lang="en-US" altLang="en-US" b="1" u="sng">
                <a:solidFill>
                  <a:srgbClr val="C00000"/>
                </a:solidFill>
                <a:latin typeface="Times New Roman" panose="02020603050405020304" pitchFamily="18" charset="0"/>
                <a:cs typeface="Times New Roman" panose="02020603050405020304" pitchFamily="18" charset="0"/>
              </a:rPr>
              <a:t>D. Results</a:t>
            </a:r>
            <a:endParaRPr lang="en-US" altLang="en-US" b="1" u="sng">
              <a:solidFill>
                <a:srgbClr val="C00000"/>
              </a:solidFill>
              <a:latin typeface="Times New Roman" panose="02020603050405020304" pitchFamily="18" charset="0"/>
              <a:cs typeface="Times New Roman" panose="02020603050405020304" pitchFamily="18" charset="0"/>
            </a:endParaRPr>
          </a:p>
        </p:txBody>
      </p:sp>
      <p:pic>
        <p:nvPicPr>
          <p:cNvPr id="12" name="Picture 2" descr="output 4"/>
          <p:cNvPicPr>
            <a:picLocks noChangeAspect="1"/>
          </p:cNvPicPr>
          <p:nvPr>
            <p:ph idx="1"/>
          </p:nvPr>
        </p:nvPicPr>
        <p:blipFill>
          <a:blip r:embed="rId1"/>
          <a:stretch>
            <a:fillRect/>
          </a:stretch>
        </p:blipFill>
        <p:spPr>
          <a:xfrm>
            <a:off x="1371600" y="1600200"/>
            <a:ext cx="6952615" cy="4161790"/>
          </a:xfrm>
          <a:prstGeom prst="rect">
            <a:avLst/>
          </a:prstGeom>
        </p:spPr>
      </p:pic>
      <p:sp>
        <p:nvSpPr>
          <p:cNvPr id="1229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E3B10B4-6EA4-4322-9775-DC1D33E6E40B}"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274637"/>
            <a:ext cx="8534400" cy="1143000"/>
          </a:xfrm>
        </p:spPr>
        <p:txBody>
          <a:bodyPr/>
          <a:lstStyle/>
          <a:p>
            <a:pPr algn="l" eaLnBrk="1" hangingPunct="1"/>
            <a:r>
              <a:rPr lang="en-US" altLang="en-US" b="1" u="sng">
                <a:solidFill>
                  <a:srgbClr val="C00000"/>
                </a:solidFill>
                <a:latin typeface="Times New Roman" panose="02020603050405020304" pitchFamily="18" charset="0"/>
                <a:cs typeface="Times New Roman" panose="02020603050405020304" pitchFamily="18" charset="0"/>
              </a:rPr>
              <a:t>D. Results</a:t>
            </a:r>
            <a:endParaRPr lang="en-US" altLang="en-US" b="1" u="sng">
              <a:solidFill>
                <a:srgbClr val="C00000"/>
              </a:solidFill>
              <a:latin typeface="Times New Roman" panose="02020603050405020304" pitchFamily="18" charset="0"/>
              <a:cs typeface="Times New Roman" panose="02020603050405020304" pitchFamily="18" charset="0"/>
            </a:endParaRPr>
          </a:p>
        </p:txBody>
      </p:sp>
      <p:sp>
        <p:nvSpPr>
          <p:cNvPr id="12291" name="Content Placeholder 2"/>
          <p:cNvSpPr>
            <a:spLocks noGrp="1"/>
          </p:cNvSpPr>
          <p:nvPr>
            <p:ph idx="1"/>
          </p:nvPr>
        </p:nvSpPr>
        <p:spPr/>
        <p:txBody>
          <a:bodyPr/>
          <a:lstStyle/>
          <a:p>
            <a:pPr marL="0" indent="0">
              <a:buNone/>
            </a:pPr>
            <a:endParaRPr lang="en-IN" altLang="en-US"/>
          </a:p>
        </p:txBody>
      </p:sp>
      <p:sp>
        <p:nvSpPr>
          <p:cNvPr id="1229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E3B10B4-6EA4-4322-9775-DC1D33E6E40B}"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pic>
        <p:nvPicPr>
          <p:cNvPr id="2" name="Picture 1" descr="Screenshot 2026-03-13 222044"/>
          <p:cNvPicPr>
            <a:picLocks noChangeAspect="1"/>
          </p:cNvPicPr>
          <p:nvPr/>
        </p:nvPicPr>
        <p:blipFill>
          <a:blip r:embed="rId1"/>
          <a:stretch>
            <a:fillRect/>
          </a:stretch>
        </p:blipFill>
        <p:spPr>
          <a:xfrm>
            <a:off x="381000" y="1371600"/>
            <a:ext cx="8436610" cy="45504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274637"/>
            <a:ext cx="8229600" cy="639763"/>
          </a:xfrm>
        </p:spPr>
        <p:txBody>
          <a:bodyPr/>
          <a:lstStyle/>
          <a:p>
            <a:br>
              <a:rPr lang="en-US" altLang="en-US" b="1">
                <a:solidFill>
                  <a:srgbClr val="C00000"/>
                </a:solidFill>
                <a:latin typeface="Times New Roman" panose="02020603050405020304" pitchFamily="18" charset="0"/>
                <a:cs typeface="Times New Roman" panose="02020603050405020304" pitchFamily="18" charset="0"/>
              </a:rPr>
            </a:br>
            <a:r>
              <a:rPr lang="en-US" altLang="en-US" b="1">
                <a:solidFill>
                  <a:srgbClr val="C00000"/>
                </a:solidFill>
                <a:latin typeface="Times New Roman" panose="02020603050405020304" pitchFamily="18" charset="0"/>
                <a:cs typeface="Times New Roman" panose="02020603050405020304" pitchFamily="18" charset="0"/>
              </a:rPr>
              <a:t>References</a:t>
            </a:r>
            <a:br>
              <a:rPr lang="en-US" altLang="en-US" b="1">
                <a:solidFill>
                  <a:srgbClr val="C00000"/>
                </a:solidFill>
                <a:latin typeface="Times New Roman" panose="02020603050405020304" pitchFamily="18" charset="0"/>
                <a:cs typeface="Times New Roman" panose="02020603050405020304" pitchFamily="18" charset="0"/>
              </a:rPr>
            </a:br>
            <a:endParaRPr lang="en-US" altLang="en-US"/>
          </a:p>
        </p:txBody>
      </p:sp>
      <p:sp>
        <p:nvSpPr>
          <p:cNvPr id="13315" name="Content Placeholder 2"/>
          <p:cNvSpPr>
            <a:spLocks noGrp="1"/>
          </p:cNvSpPr>
          <p:nvPr>
            <p:ph idx="1"/>
          </p:nvPr>
        </p:nvSpPr>
        <p:spPr>
          <a:xfrm>
            <a:off x="152400" y="1066800"/>
            <a:ext cx="8839200" cy="2438400"/>
          </a:xfrm>
        </p:spPr>
        <p:txBody>
          <a:bodyPr/>
          <a:lstStyle/>
          <a:p>
            <a:pPr marL="0" indent="0" algn="just">
              <a:buFont typeface="Calibri" panose="020F0502020204030204" pitchFamily="34" charset="0"/>
              <a:buNone/>
            </a:pPr>
            <a:r>
              <a:rPr lang="en-US" altLang="en-US" sz="2000" dirty="0">
                <a:latin typeface="Times New Roman" panose="02020603050405020304" pitchFamily="18" charset="0"/>
                <a:cs typeface="Times New Roman" panose="02020603050405020304" pitchFamily="18" charset="0"/>
              </a:rPr>
              <a:t>[1] A. Vaswani, N. Shazeer, N. Parmar, et al., “Attention Is All You Need,” Proceedings of the 31st Conference on Neural Information Processing Systems (NeurIPS), pp. 5998–6008, 2017.</a:t>
            </a:r>
            <a:endParaRPr lang="en-US" altLang="en-US" sz="2000" dirty="0">
              <a:latin typeface="Times New Roman" panose="02020603050405020304" pitchFamily="18" charset="0"/>
              <a:cs typeface="Times New Roman" panose="02020603050405020304" pitchFamily="18" charset="0"/>
            </a:endParaRPr>
          </a:p>
          <a:p>
            <a:pPr algn="just">
              <a:buFont typeface="Calibri" panose="020F0502020204030204" pitchFamily="34" charset="0"/>
              <a:buAutoNum type="arabicPeriod"/>
            </a:pPr>
            <a:endParaRPr lang="en-US" altLang="en-US" sz="2000" dirty="0">
              <a:latin typeface="Times New Roman" panose="02020603050405020304" pitchFamily="18" charset="0"/>
              <a:cs typeface="Times New Roman" panose="02020603050405020304" pitchFamily="18" charset="0"/>
            </a:endParaRPr>
          </a:p>
          <a:p>
            <a:pPr marL="0" indent="0" algn="just">
              <a:buFont typeface="Calibri" panose="020F0502020204030204" pitchFamily="34" charset="0"/>
              <a:buNone/>
            </a:pPr>
            <a:r>
              <a:rPr lang="en-US" altLang="en-US" sz="2000" dirty="0">
                <a:latin typeface="Times New Roman" panose="02020603050405020304" pitchFamily="18" charset="0"/>
                <a:cs typeface="Times New Roman" panose="02020603050405020304" pitchFamily="18" charset="0"/>
              </a:rPr>
              <a:t>[2] J. Devlin, M. Chang, K. Lee, and K. Toutanova, “BERT: Pre-training of Deep Bidirectional Transformers for Language Understanding,” Proceedings of NAACL-HLT, pp. 4171–4186, 2019.</a:t>
            </a:r>
            <a:endParaRPr lang="en-US" altLang="en-US" sz="2000" dirty="0">
              <a:latin typeface="Times New Roman" panose="02020603050405020304" pitchFamily="18" charset="0"/>
              <a:cs typeface="Times New Roman" panose="02020603050405020304" pitchFamily="18" charset="0"/>
            </a:endParaRPr>
          </a:p>
          <a:p>
            <a:pPr algn="just">
              <a:buFont typeface="Calibri" panose="020F0502020204030204" pitchFamily="34" charset="0"/>
              <a:buAutoNum type="arabicPeriod"/>
            </a:pPr>
            <a:endParaRPr lang="en-US" altLang="en-US" sz="2000" dirty="0">
              <a:latin typeface="Times New Roman" panose="02020603050405020304" pitchFamily="18" charset="0"/>
              <a:cs typeface="Times New Roman" panose="02020603050405020304" pitchFamily="18" charset="0"/>
            </a:endParaRPr>
          </a:p>
          <a:p>
            <a:pPr marL="0" indent="0" algn="just">
              <a:buFont typeface="Calibri" panose="020F0502020204030204" pitchFamily="34" charset="0"/>
              <a:buNone/>
            </a:pPr>
            <a:r>
              <a:rPr lang="en-IN" altLang="en-US" sz="2000"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3] T. Brown, B. Mann, N. Ryder, et al., “Language Models are Few-Shot Learners,” Proceedings of the 34th Conference on Neural Information Processing Systems (NeurIPS), 2020.</a:t>
            </a:r>
            <a:endParaRPr lang="en-US" altLang="en-US" sz="2000" dirty="0">
              <a:latin typeface="Times New Roman" panose="02020603050405020304" pitchFamily="18" charset="0"/>
              <a:cs typeface="Times New Roman" panose="02020603050405020304" pitchFamily="18" charset="0"/>
            </a:endParaRPr>
          </a:p>
          <a:p>
            <a:pPr algn="just">
              <a:buFont typeface="Calibri" panose="020F0502020204030204" pitchFamily="34" charset="0"/>
              <a:buAutoNum type="arabicPeriod"/>
            </a:pPr>
            <a:endParaRPr lang="en-US" altLang="en-US" sz="2000" dirty="0">
              <a:latin typeface="Times New Roman" panose="02020603050405020304" pitchFamily="18" charset="0"/>
              <a:cs typeface="Times New Roman" panose="02020603050405020304" pitchFamily="18" charset="0"/>
            </a:endParaRPr>
          </a:p>
          <a:p>
            <a:pPr marL="0" indent="0" algn="just">
              <a:buFont typeface="Calibri" panose="020F0502020204030204" pitchFamily="34" charset="0"/>
              <a:buNone/>
            </a:pPr>
            <a:r>
              <a:rPr lang="en-US" altLang="en-US" sz="2000" dirty="0">
                <a:latin typeface="Times New Roman" panose="02020603050405020304" pitchFamily="18" charset="0"/>
                <a:cs typeface="Times New Roman" panose="02020603050405020304" pitchFamily="18" charset="0"/>
              </a:rPr>
              <a:t>[4] A. van den Oord, S. Dieleman, H. Zen, et al., “WaveNet: A Generative Model for Raw Audio,” Proc. Speech Synthesis Workshop, 2016.</a:t>
            </a:r>
            <a:endParaRPr lang="en-US" altLang="en-US" sz="2000" dirty="0">
              <a:latin typeface="Times New Roman" panose="02020603050405020304" pitchFamily="18" charset="0"/>
              <a:cs typeface="Times New Roman" panose="02020603050405020304" pitchFamily="18" charset="0"/>
            </a:endParaRPr>
          </a:p>
        </p:txBody>
      </p:sp>
      <p:sp>
        <p:nvSpPr>
          <p:cNvPr id="1331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E664DE-0F85-4582-8292-435C464EDEF0}" type="slidenum">
              <a:rPr lang="en-US" altLang="en-US" smtClean="0">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429000" y="2667000"/>
            <a:ext cx="2569845" cy="1219200"/>
          </a:xfrm>
        </p:spPr>
        <p:txBody>
          <a:bodyPr/>
          <a:p>
            <a:pPr marL="0" indent="0">
              <a:buNone/>
            </a:pPr>
            <a:r>
              <a:rPr lang="en-IN" altLang="en-US">
                <a:latin typeface="Times New Roman" panose="02020603050405020304" pitchFamily="18" charset="0"/>
                <a:cs typeface="Times New Roman" panose="02020603050405020304" pitchFamily="18" charset="0"/>
              </a:rPr>
              <a:t>Thank You</a:t>
            </a:r>
            <a:endParaRPr lang="en-IN" altLang="en-US">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a:defRPr/>
            </a:pPr>
            <a:fld id="{E0AA0814-68D7-4CF4-8432-4D9707D29DA4}" type="slidenum">
              <a:rPr lang="en-US" altLang="en-US"/>
            </a:fld>
            <a:endParaRPr lang="en-US" altLang="en-US"/>
          </a:p>
        </p:txBody>
      </p:sp>
    </p:spTree>
  </p:cSld>
  <p:clrMapOvr>
    <a:masterClrMapping/>
  </p:clrMapOvr>
</p:sld>
</file>

<file path=ppt/tags/tag1.xml><?xml version="1.0" encoding="utf-8"?>
<p:tagLst xmlns:p="http://schemas.openxmlformats.org/presentationml/2006/main">
  <p:tag name="TABLE_ENDDRAG_ORIGIN_RECT" val="716*445"/>
  <p:tag name="TABLE_ENDDRAG_RECT" val="0*64*716*44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5765</Words>
  <Application>WPS Presentation</Application>
  <PresentationFormat>On-screen Show (4:3)</PresentationFormat>
  <Paragraphs>205</Paragraphs>
  <Slides>17</Slides>
  <Notes>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vt:lpstr>
      <vt:lpstr>SimSun</vt:lpstr>
      <vt:lpstr>Wingdings</vt:lpstr>
      <vt:lpstr>Calibri</vt:lpstr>
      <vt:lpstr>Times New Roman</vt:lpstr>
      <vt:lpstr>Calibri</vt:lpstr>
      <vt:lpstr>Microsoft YaHei</vt:lpstr>
      <vt:lpstr>Arial Unicode MS</vt:lpstr>
      <vt:lpstr>Office Theme</vt:lpstr>
      <vt:lpstr>PowerPoint 演示文稿</vt:lpstr>
      <vt:lpstr>PowerPoint 演示文稿</vt:lpstr>
      <vt:lpstr>Project Proposal Document</vt:lpstr>
      <vt:lpstr>PowerPoint 演示文稿</vt:lpstr>
      <vt:lpstr>PowerPoint 演示文稿</vt:lpstr>
      <vt:lpstr>Design Document</vt:lpstr>
      <vt:lpstr>PowerPoint 演示文稿</vt:lpstr>
      <vt:lpstr>PowerPoint 演示文稿</vt:lpstr>
      <vt:lpstr>System Design Description</vt:lpstr>
      <vt:lpstr>PowerPoint 演示文稿</vt:lpstr>
      <vt:lpstr>D. Results</vt:lpstr>
      <vt:lpstr>D. Results</vt:lpstr>
      <vt:lpstr>D. Results</vt:lpstr>
      <vt:lpstr>D. Results</vt:lpstr>
      <vt:lpstr>D. Results</vt:lpstr>
      <vt:lpstr> References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dc:title>
  <dc:creator>Dhurkadas</dc:creator>
  <cp:lastModifiedBy>Santhosh Kumar</cp:lastModifiedBy>
  <cp:revision>699</cp:revision>
  <dcterms:created xsi:type="dcterms:W3CDTF">2006-08-16T00:00:00Z</dcterms:created>
  <dcterms:modified xsi:type="dcterms:W3CDTF">2026-03-13T17:07:02Z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E91F8D06E1FE418183E8101DDCDE8931_13</vt:lpwstr>
  </property>
  <property fmtid="{D5CDD505-2E9C-101B-9397-08002B2CF9AE}" pid="3" name="KSOProductBuildVer">
    <vt:lpwstr>1033-12.2.0.23196</vt:lpwstr>
  </property>
</Properties>
</file>