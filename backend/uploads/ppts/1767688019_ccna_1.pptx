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14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1464"/>
          </a:solidFill>
          <a:ln>
            <a:solidFill>
              <a:srgbClr val="B41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Georgia"/>
              </a:defRPr>
            </a:pPr>
            <a:r>
              <a:t>ccna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E6B4D2"/>
                </a:solidFill>
                <a:latin typeface="Georgia"/>
              </a:defRPr>
            </a:pPr>
            <a:r>
              <a:t>Title Slide: Introduction to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1464"/>
          </a:solidFill>
          <a:ln>
            <a:solidFill>
              <a:srgbClr val="B41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F5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41464"/>
                </a:solidFill>
                <a:latin typeface="Georgia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846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000">
                <a:solidFill>
                  <a:srgbClr val="501E32"/>
                </a:solidFill>
                <a:latin typeface="Georgia"/>
              </a:defRPr>
            </a:pPr>
            <a:r>
              <a:t>Title Slide: Introduction to Java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00">
                <a:solidFill>
                  <a:srgbClr val="5A283C"/>
                </a:solidFill>
                <a:latin typeface="Georgia"/>
              </a:defRPr>
            </a:pPr>
            <a:r>
              <a:t>Java is a high-level, object-oriented programming language developed by Sun Microsystems (now owned by Oracle Corporation) in the mid-1990s.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000">
                <a:solidFill>
                  <a:srgbClr val="501E32"/>
                </a:solidFill>
                <a:latin typeface="Georgia"/>
              </a:defRPr>
            </a:pPr>
            <a:r>
              <a:t>Overview of Java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00">
                <a:solidFill>
                  <a:srgbClr val="5A283C"/>
                </a:solidFill>
                <a:latin typeface="Georgia"/>
              </a:defRPr>
            </a:pPr>
            <a:r>
              <a:t>Object-Oriented Programming Language: Java uses concepts such as classes, objects, inheritance, polymorphism, and encapsulation to create programs.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00">
                <a:solidFill>
                  <a:srgbClr val="5A283C"/>
                </a:solidFill>
                <a:latin typeface="Georgia"/>
              </a:defRPr>
            </a:pPr>
            <a:r>
              <a:t>Platform Independent: Written in Java, applications can run on any device that has a Java Virtual Machine (JVM), eliminating the need for platform-specific code.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00">
                <a:solidFill>
                  <a:srgbClr val="5A283C"/>
                </a:solidFill>
                <a:latin typeface="Georgia"/>
              </a:defRPr>
            </a:pPr>
            <a:r>
              <a:t>Simple: With easy syntax similar to C++ and English-like semantics, Java is relatively simple for beginners.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DC64AA"/>
                </a:solidFill>
                <a:latin typeface="Georgia"/>
              </a:defRPr>
            </a:pPr>
            <a:r>
              <a:t>Key Benefits of Using Java: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000">
                <a:solidFill>
                  <a:srgbClr val="501E32"/>
                </a:solidFill>
                <a:latin typeface="Georgia"/>
              </a:defRPr>
            </a:pPr>
            <a:r>
              <a:t>1. High performance and scalability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000">
                <a:solidFill>
                  <a:srgbClr val="501E32"/>
                </a:solidFill>
                <a:latin typeface="Georgia"/>
              </a:defRPr>
            </a:pPr>
            <a:r>
              <a:t>2. Enhanced security and stability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000">
                <a:solidFill>
                  <a:srgbClr val="501E32"/>
                </a:solidFill>
                <a:latin typeface="Georgia"/>
              </a:defRPr>
            </a:pPr>
            <a:r>
              <a:t>3. Large community support and numerous resources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000">
                <a:solidFill>
                  <a:srgbClr val="501E32"/>
                </a:solidFill>
                <a:latin typeface="Georgia"/>
              </a:defRPr>
            </a:pPr>
            <a:r>
              <a:t>4. Wide range of applications (web, mobile, desktop, games)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000">
                <a:solidFill>
                  <a:srgbClr val="501E32"/>
                </a:solidFill>
                <a:latin typeface="Georgia"/>
              </a:defRPr>
            </a:pPr>
            <a:r>
              <a:t>5. Platform independence (write once, run anywhere)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000">
                <a:solidFill>
                  <a:srgbClr val="501E32"/>
                </a:solidFill>
                <a:latin typeface="Georgia"/>
              </a:defRPr>
            </a:pPr>
            <a:r>
              <a:t>Java History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00">
                <a:solidFill>
                  <a:srgbClr val="5A283C"/>
                </a:solidFill>
                <a:latin typeface="Georgia"/>
              </a:defRPr>
            </a:pPr>
            <a:r>
              <a:t>Developed by James Gosling and his team at Sun Microsystems in 1991.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00">
                <a:solidFill>
                  <a:srgbClr val="5A283C"/>
                </a:solidFill>
                <a:latin typeface="Georgia"/>
              </a:defRPr>
            </a:pPr>
            <a:r>
              <a:t>Originally called "Oak", renamed to Java in 1995.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00">
                <a:solidFill>
                  <a:srgbClr val="5A283C"/>
                </a:solidFill>
                <a:latin typeface="Georgia"/>
              </a:defRPr>
            </a:pPr>
            <a:r>
              <a:t>Initial release: Java 1.0 (December 1996)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00">
                <a:solidFill>
                  <a:srgbClr val="5A283C"/>
                </a:solidFill>
                <a:latin typeface="Georgia"/>
              </a:defRPr>
            </a:pPr>
            <a:r>
              <a:t>Major releases: Java 2 (2000), Java SE 6 (2006), Java SE 7 (2011), Java SE 8 (2014), Java SE 9, Java SE 10, and latest Java 13 (2019)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00">
                <a:solidFill>
                  <a:srgbClr val="5A283C"/>
                </a:solidFill>
                <a:latin typeface="Georgia"/>
              </a:defRPr>
            </a:pPr>
            <a:r>
              <a:t>Maintained and further developed by Oracle Corporation since 2010.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000">
                <a:solidFill>
                  <a:srgbClr val="501E32"/>
                </a:solidFill>
                <a:latin typeface="Georgia"/>
              </a:defRPr>
            </a:pPr>
            <a:r>
              <a:t>Java Components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DC64AA"/>
                </a:solidFill>
                <a:latin typeface="Georgia"/>
              </a:defRPr>
            </a:pPr>
            <a:r>
              <a:t>Core Java: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00">
                <a:solidFill>
                  <a:srgbClr val="5A283C"/>
                </a:solidFill>
                <a:latin typeface="Georgia"/>
              </a:defRPr>
            </a:pPr>
            <a:r>
              <a:t>Basic Java programming language for building applications, applets, and libraries.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DC64AA"/>
                </a:solidFill>
                <a:latin typeface="Georgia"/>
              </a:defRPr>
            </a:pPr>
            <a:r>
              <a:t>Java Platform Standard Edition (SE):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00">
                <a:solidFill>
                  <a:srgbClr val="5A283C"/>
                </a:solidFill>
                <a:latin typeface="Georgia"/>
              </a:defRPr>
            </a:pPr>
            <a:r>
              <a:t>A set of APIs that provide developers with prewritten code to build desktop, web, and enterprise applications.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DC64AA"/>
                </a:solidFill>
                <a:latin typeface="Georgia"/>
              </a:defRPr>
            </a:pPr>
            <a:r>
              <a:t>Java Platform Micro Edition (ME) / JavaFX: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00">
                <a:solidFill>
                  <a:srgbClr val="5A283C"/>
                </a:solidFill>
                <a:latin typeface="Georgia"/>
              </a:defRPr>
            </a:pPr>
            <a:r>
              <a:t>Designed for small devices such as mobile phones and PDAs. Now known as JavaFX, it is a complete client solution for building and delivering rich Internet applications.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000">
                <a:solidFill>
                  <a:srgbClr val="501E32"/>
                </a:solidFill>
                <a:latin typeface="Georgia"/>
              </a:defRPr>
            </a:pPr>
            <a:r>
              <a:t>Java Development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1464"/>
          </a:solidFill>
          <a:ln>
            <a:solidFill>
              <a:srgbClr val="B41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F5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41464"/>
                </a:solidFill>
                <a:latin typeface="Georgia"/>
              </a:defRPr>
            </a:pPr>
            <a:r>
              <a:t>Overview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39"/>
            <a:ext cx="29260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39"/>
            <a:ext cx="4389120" cy="4846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>
                <a:solidFill>
                  <a:srgbClr val="5A283C"/>
                </a:solidFill>
                <a:latin typeface="Georgia"/>
              </a:defRPr>
            </a:pPr>
            <a:r>
              <a:t>Integrated Development Environments (IDEs): Eclipse, IntelliJ IDEA, NetBeans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900">
                <a:solidFill>
                  <a:srgbClr val="5A283C"/>
                </a:solidFill>
                <a:latin typeface="Georgia"/>
              </a:defRPr>
            </a:pPr>
            <a:r>
              <a:t>Compilers: javac (command line), Eclipse Java Compiler (EJC), and others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900">
                <a:solidFill>
                  <a:srgbClr val="5A283C"/>
                </a:solidFill>
                <a:latin typeface="Georgia"/>
              </a:defRPr>
            </a:pPr>
            <a:r>
              <a:t>Java Virtual Machine (JVM): Runs Java bytecode on various platforms.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900">
                <a:solidFill>
                  <a:srgbClr val="5A283C"/>
                </a:solidFill>
                <a:latin typeface="Georgia"/>
              </a:defRPr>
            </a:pPr>
            <a:r>
              <a:t>Application Servers: Tomcat, GlassFish, WildFly, JBoss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900">
                <a:solidFill>
                  <a:srgbClr val="501E32"/>
                </a:solidFill>
                <a:latin typeface="Georgia"/>
              </a:defRPr>
            </a:pPr>
            <a:r>
              <a:t>Example Code: Hello World in Java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900">
                <a:solidFill>
                  <a:srgbClr val="501E32"/>
                </a:solidFill>
                <a:latin typeface="Georgia"/>
              </a:defRPr>
            </a:pPr>
            <a:r>
              <a:t>`java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900">
                <a:solidFill>
                  <a:srgbClr val="501E32"/>
                </a:solidFill>
                <a:latin typeface="Georgia"/>
              </a:defRPr>
            </a:pPr>
            <a:r>
              <a:t>public class HelloWorld {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900">
                <a:solidFill>
                  <a:srgbClr val="501E32"/>
                </a:solidFill>
                <a:latin typeface="Georgia"/>
              </a:defRPr>
            </a:pPr>
            <a:r>
              <a:t>public static void main(String[] args) {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900">
                <a:solidFill>
                  <a:srgbClr val="501E32"/>
                </a:solidFill>
                <a:latin typeface="Georgia"/>
              </a:defRPr>
            </a:pPr>
            <a:r>
              <a:t>System.out.println("Hello, World!");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900">
                <a:solidFill>
                  <a:srgbClr val="501E32"/>
                </a:solidFill>
                <a:latin typeface="Georgia"/>
              </a:defRPr>
            </a:pPr>
            <a:r>
              <a:t>Summary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900">
                <a:solidFill>
                  <a:srgbClr val="5A283C"/>
                </a:solidFill>
                <a:latin typeface="Georgia"/>
              </a:defRPr>
            </a:pPr>
            <a:r>
              <a:t>Java is a popular, high-level object-oriented programming language developed by Sun Microsystems and now maintained by Oracle Corporation.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900">
                <a:solidFill>
                  <a:srgbClr val="5A283C"/>
                </a:solidFill>
                <a:latin typeface="Georgia"/>
              </a:defRPr>
            </a:pPr>
            <a:r>
              <a:t>It offers simplicity, platform independence, large community support, and scalability across various applications.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900">
                <a:solidFill>
                  <a:srgbClr val="5A283C"/>
                </a:solidFill>
                <a:latin typeface="Georgia"/>
              </a:defRPr>
            </a:pPr>
            <a:r>
              <a:t>Key components include Core Java, Java Platform Standard Edition (SE), and Java Platform Micro Edition (ME)/JavaFX, with a variety of development tools available for building Java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