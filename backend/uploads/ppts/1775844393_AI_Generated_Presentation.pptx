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AI_Generated_Presentation</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2D2D2D"/>
                </a:solidFill>
                <a:latin typeface="Calibri"/>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Component-Based Architecture: ReactJS uses a component-based architecture, where the application is broken down into smaller, reusable components.</a:t>
            </a:r>
          </a:p>
          <a:p>
            <a:pPr>
              <a:lnSpc>
                <a:spcPct val="115000"/>
              </a:lnSpc>
              <a:spcAft>
                <a:spcPts val="600"/>
              </a:spcAft>
              <a:defRPr sz="1800">
                <a:solidFill>
                  <a:srgbClr val="3C3C3C"/>
                </a:solidFill>
                <a:latin typeface="Calibri"/>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3C3C3C"/>
                </a:solidFill>
                <a:latin typeface="Calibri"/>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3C3C3C"/>
                </a:solidFill>
                <a:latin typeface="Calibri"/>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Functional Components</a:t>
            </a:r>
          </a:p>
          <a:p>
            <a:pPr>
              <a:lnSpc>
                <a:spcPct val="115000"/>
              </a:lnSpc>
              <a:spcAft>
                <a:spcPts val="800"/>
              </a:spcAft>
              <a:defRPr sz="1800">
                <a:solidFill>
                  <a:srgbClr val="2D2D2D"/>
                </a:solidFill>
                <a:latin typeface="Calibri"/>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4678AA"/>
                </a:solidFill>
                <a:latin typeface="Calibri"/>
              </a:defRPr>
            </a:pPr>
            <a:r>
              <a:t>Class Components</a:t>
            </a:r>
          </a:p>
          <a:p>
            <a:pPr>
              <a:lnSpc>
                <a:spcPct val="115000"/>
              </a:lnSpc>
              <a:spcAft>
                <a:spcPts val="800"/>
              </a:spcAft>
              <a:defRPr sz="1800">
                <a:solidFill>
                  <a:srgbClr val="2D2D2D"/>
                </a:solidFill>
                <a:latin typeface="Calibri"/>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Mounting: The process of rendering a component to the DOM for the first time.</a:t>
            </a:r>
          </a:p>
          <a:p>
            <a:pPr>
              <a:lnSpc>
                <a:spcPct val="115000"/>
              </a:lnSpc>
              <a:spcAft>
                <a:spcPts val="600"/>
              </a:spcAft>
              <a:defRPr sz="1800">
                <a:solidFill>
                  <a:srgbClr val="3C3C3C"/>
                </a:solidFill>
                <a:latin typeface="Calibri"/>
              </a:defRPr>
            </a:pPr>
            <a:r>
              <a:t>Updating: The process of re-rendering a component when its state or props change.</a:t>
            </a:r>
          </a:p>
          <a:p>
            <a:pPr>
              <a:lnSpc>
                <a:spcPct val="115000"/>
              </a:lnSpc>
              <a:spcAft>
                <a:spcPts val="600"/>
              </a:spcAft>
              <a:defRPr sz="1800">
                <a:solidFill>
                  <a:srgbClr val="3C3C3C"/>
                </a:solidFill>
                <a:latin typeface="Calibri"/>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State: The state of a component is an object that stores the component's data.</a:t>
            </a:r>
          </a:p>
          <a:p>
            <a:pPr>
              <a:lnSpc>
                <a:spcPct val="115000"/>
              </a:lnSpc>
              <a:spcAft>
                <a:spcPts val="800"/>
              </a:spcAft>
              <a:defRPr sz="1800">
                <a:solidFill>
                  <a:srgbClr val="3C3C3C"/>
                </a:solidFill>
                <a:latin typeface="Calibri"/>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