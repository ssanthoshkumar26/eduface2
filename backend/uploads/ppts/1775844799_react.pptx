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CC5500"/>
        </a:solidFill>
        <a:effectLst/>
      </p:bgPr>
    </p:bg>
    <p:spTree>
      <p:nvGrpSpPr>
        <p:cNvPr id="1" name=""/>
        <p:cNvGrpSpPr/>
        <p:nvPr/>
      </p:nvGrpSpPr>
      <p:grpSpPr/>
      <p:sp>
        <p:nvSpPr>
          <p:cNvPr id="2" name="Rectangle 1"/>
          <p:cNvSpPr/>
          <p:nvPr/>
        </p:nvSpPr>
        <p:spPr>
          <a:xfrm>
            <a:off x="0" y="0"/>
            <a:ext cx="9144000" cy="73152"/>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Helvetica"/>
              </a:defRPr>
            </a:pPr>
            <a:r>
              <a:t>react</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FFDCB4"/>
                </a:solidFill>
                <a:latin typeface="Helvetica"/>
              </a:defRPr>
            </a:pPr>
            <a:r>
              <a:t>Introduction to ReactJS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FFD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CC5500"/>
                </a:solidFill>
                <a:latin typeface="Helvetica"/>
              </a:defRPr>
            </a:pPr>
            <a:r>
              <a:t>Introduction to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1000"/>
              </a:spcAft>
              <a:defRPr sz="1800">
                <a:solidFill>
                  <a:srgbClr val="3C2814"/>
                </a:solidFill>
                <a:latin typeface="Helvetica"/>
              </a:defRPr>
            </a:pPr>
            <a:r>
              <a:t>ReactJS is a JavaScript library used for building user interfaces and can be used for developing complex, interactive web and mobile applications. It was developed by Facebook (now Meta) and is maintained by Facebook and a community of developers.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FFD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CC5500"/>
                </a:solidFill>
                <a:latin typeface="Helvetica"/>
              </a:defRPr>
            </a:pPr>
            <a:r>
              <a:t>Key Features of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503C28"/>
                </a:solidFill>
                <a:latin typeface="Helvetica"/>
              </a:defRPr>
            </a:pPr>
            <a:r>
              <a:t>Component-Based Architecture: ReactJS uses a component-based architecture, where the application is broken down into smaller, reusable components.</a:t>
            </a:r>
          </a:p>
          <a:p>
            <a:pPr>
              <a:lnSpc>
                <a:spcPct val="115000"/>
              </a:lnSpc>
              <a:spcAft>
                <a:spcPts val="600"/>
              </a:spcAft>
              <a:defRPr sz="1800">
                <a:solidFill>
                  <a:srgbClr val="503C28"/>
                </a:solidFill>
                <a:latin typeface="Helvetica"/>
              </a:defRPr>
            </a:pPr>
            <a:r>
              <a:t>Virtual DOM: ReactJS uses a virtual DOM (a lightweight in-memory representation of the real DOM) to optimize rendering and reduce the number of DOM mutations.</a:t>
            </a:r>
          </a:p>
          <a:p>
            <a:pPr>
              <a:lnSpc>
                <a:spcPct val="115000"/>
              </a:lnSpc>
              <a:spcAft>
                <a:spcPts val="600"/>
              </a:spcAft>
              <a:defRPr sz="1800">
                <a:solidFill>
                  <a:srgbClr val="503C28"/>
                </a:solidFill>
                <a:latin typeface="Helvetica"/>
              </a:defRPr>
            </a:pPr>
            <a:r>
              <a:t>Declarative Programming: ReactJS uses a declarative programming style, where the developer describes what the UI should look like, and ReactJS takes care of the details.</a:t>
            </a:r>
          </a:p>
          <a:p>
            <a:pPr>
              <a:lnSpc>
                <a:spcPct val="115000"/>
              </a:lnSpc>
              <a:spcAft>
                <a:spcPts val="600"/>
              </a:spcAft>
              <a:defRPr sz="1800">
                <a:solidFill>
                  <a:srgbClr val="503C28"/>
                </a:solidFill>
                <a:latin typeface="Helvetica"/>
              </a:defRPr>
            </a:pPr>
            <a:r>
              <a:t>One-Way Data Binding: ReactJS uses a one-way data binding approach, where the component's state is updated, and the UI is re-rendered accordingly.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FFD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CC5500"/>
                </a:solidFill>
                <a:latin typeface="Helvetica"/>
              </a:defRPr>
            </a:pPr>
            <a:r>
              <a:t>ReactJS Components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F09650"/>
                </a:solidFill>
                <a:latin typeface="Helvetica"/>
              </a:defRPr>
            </a:pPr>
            <a:r>
              <a:t>Functional Components</a:t>
            </a:r>
          </a:p>
          <a:p>
            <a:pPr>
              <a:lnSpc>
                <a:spcPct val="115000"/>
              </a:lnSpc>
              <a:spcAft>
                <a:spcPts val="800"/>
              </a:spcAft>
              <a:defRPr sz="1800">
                <a:solidFill>
                  <a:srgbClr val="3C2814"/>
                </a:solidFill>
                <a:latin typeface="Helvetica"/>
              </a:defRPr>
            </a:pPr>
            <a:r>
              <a:t>Functional components are pure functions that take in props and return JSX elements. They are stateless and do not have their own lifecycle methods.</a:t>
            </a:r>
          </a:p>
          <a:p>
            <a:pPr>
              <a:lnSpc>
                <a:spcPct val="115000"/>
              </a:lnSpc>
              <a:spcAft>
                <a:spcPts val="600"/>
              </a:spcAft>
              <a:defRPr sz="2000" b="1">
                <a:solidFill>
                  <a:srgbClr val="F09650"/>
                </a:solidFill>
                <a:latin typeface="Helvetica"/>
              </a:defRPr>
            </a:pPr>
            <a:r>
              <a:t>Class Components</a:t>
            </a:r>
          </a:p>
          <a:p>
            <a:pPr>
              <a:lnSpc>
                <a:spcPct val="115000"/>
              </a:lnSpc>
              <a:spcAft>
                <a:spcPts val="800"/>
              </a:spcAft>
              <a:defRPr sz="1800">
                <a:solidFill>
                  <a:srgbClr val="3C2814"/>
                </a:solidFill>
                <a:latin typeface="Helvetica"/>
              </a:defRPr>
            </a:pPr>
            <a:r>
              <a:t>Class components are classes that extend the React.Component class. They have their own lifecycle methods and can have their own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FFD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CC5500"/>
                </a:solidFill>
                <a:latin typeface="Helvetica"/>
              </a:defRPr>
            </a:pPr>
            <a:r>
              <a:t>ReactJS Lifecycle Methods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503C28"/>
                </a:solidFill>
                <a:latin typeface="Helvetica"/>
              </a:defRPr>
            </a:pPr>
            <a:r>
              <a:t>Mounting: The process of rendering a component to the DOM for the first time.</a:t>
            </a:r>
          </a:p>
          <a:p>
            <a:pPr>
              <a:lnSpc>
                <a:spcPct val="115000"/>
              </a:lnSpc>
              <a:spcAft>
                <a:spcPts val="600"/>
              </a:spcAft>
              <a:defRPr sz="1800">
                <a:solidFill>
                  <a:srgbClr val="503C28"/>
                </a:solidFill>
                <a:latin typeface="Helvetica"/>
              </a:defRPr>
            </a:pPr>
            <a:r>
              <a:t>Updating: The process of re-rendering a component when its state or props change.</a:t>
            </a:r>
          </a:p>
          <a:p>
            <a:pPr>
              <a:lnSpc>
                <a:spcPct val="115000"/>
              </a:lnSpc>
              <a:spcAft>
                <a:spcPts val="600"/>
              </a:spcAft>
              <a:defRPr sz="1800">
                <a:solidFill>
                  <a:srgbClr val="503C28"/>
                </a:solidFill>
                <a:latin typeface="Helvetica"/>
              </a:defRPr>
            </a:pPr>
            <a:r>
              <a:t>Unmounting: The process of removing a component from the DOM.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FFD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CC5500"/>
                </a:solidFill>
                <a:latin typeface="Helvetica"/>
              </a:defRPr>
            </a:pPr>
            <a:r>
              <a:t>ReactJS State and Props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503C28"/>
                </a:solidFill>
                <a:latin typeface="Helvetica"/>
              </a:defRPr>
            </a:pPr>
            <a:r>
              <a:t>State: The state of a component is an object that stores the component's data.</a:t>
            </a:r>
          </a:p>
          <a:p>
            <a:pPr>
              <a:lnSpc>
                <a:spcPct val="115000"/>
              </a:lnSpc>
              <a:spcAft>
                <a:spcPts val="800"/>
              </a:spcAft>
              <a:defRPr sz="1800">
                <a:solidFill>
                  <a:srgbClr val="503C28"/>
                </a:solidFill>
                <a:latin typeface="Helvetica"/>
              </a:defRPr>
            </a:pPr>
            <a:r>
              <a:t>Props: Props are short for "properties" and are read-only values passed from a parent component to a child component.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