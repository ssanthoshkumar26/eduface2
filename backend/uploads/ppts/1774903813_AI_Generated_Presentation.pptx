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34782"/>
        </a:solidFill>
        <a:effectLst/>
      </p:bgPr>
    </p:bg>
    <p:spTree>
      <p:nvGrpSpPr>
        <p:cNvPr id="1" name=""/>
        <p:cNvGrpSpPr/>
        <p:nvPr/>
      </p:nvGrpSpPr>
      <p:grpSpPr/>
      <p:sp>
        <p:nvSpPr>
          <p:cNvPr id="2" name="Rectangle 1"/>
          <p:cNvSpPr/>
          <p:nvPr/>
        </p:nvSpPr>
        <p:spPr>
          <a:xfrm>
            <a:off x="0" y="0"/>
            <a:ext cx="9144000" cy="73152"/>
          </a:xfrm>
          <a:prstGeom prst="rect">
            <a:avLst/>
          </a:prstGeom>
          <a:solidFill>
            <a:srgbClr val="134782"/>
          </a:solidFill>
          <a:ln>
            <a:solidFill>
              <a:srgbClr val="1347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714500"/>
            <a:ext cx="8229600" cy="1371600"/>
          </a:xfrm>
          <a:prstGeom prst="rect">
            <a:avLst/>
          </a:prstGeom>
          <a:noFill/>
        </p:spPr>
        <p:txBody>
          <a:bodyPr wrap="square">
            <a:spAutoFit/>
          </a:bodyPr>
          <a:lstStyle/>
          <a:p>
            <a:pPr algn="ctr">
              <a:lnSpc>
                <a:spcPct val="120000"/>
              </a:lnSpc>
              <a:defRPr sz="5400" b="1">
                <a:solidFill>
                  <a:srgbClr val="FFFFFF"/>
                </a:solidFill>
                <a:latin typeface="Calibri"/>
              </a:defRPr>
            </a:pPr>
            <a:r>
              <a:t>AI_Generated_Presentation</a:t>
            </a:r>
          </a:p>
        </p:txBody>
      </p:sp>
      <p:sp>
        <p:nvSpPr>
          <p:cNvPr id="4" name="TextBox 3"/>
          <p:cNvSpPr txBox="1"/>
          <p:nvPr/>
        </p:nvSpPr>
        <p:spPr>
          <a:xfrm>
            <a:off x="457200" y="3429000"/>
            <a:ext cx="8229600" cy="914400"/>
          </a:xfrm>
          <a:prstGeom prst="rect">
            <a:avLst/>
          </a:prstGeom>
          <a:noFill/>
        </p:spPr>
        <p:txBody>
          <a:bodyPr wrap="square">
            <a:spAutoFit/>
          </a:bodyPr>
          <a:lstStyle/>
          <a:p>
            <a:pPr algn="ctr">
              <a:defRPr sz="2400">
                <a:solidFill>
                  <a:srgbClr val="DCE6FA"/>
                </a:solidFill>
                <a:latin typeface="Calibri"/>
              </a:defRPr>
            </a:pPr>
            <a:r>
              <a:t>What is Node.js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5FF"/>
        </a:solidFill>
        <a:effectLst/>
      </p:bgPr>
    </p:bg>
    <p:spTree>
      <p:nvGrpSpPr>
        <p:cNvPr id="1" name=""/>
        <p:cNvGrpSpPr/>
        <p:nvPr/>
      </p:nvGrpSpPr>
      <p:grpSpPr/>
      <p:sp>
        <p:nvSpPr>
          <p:cNvPr id="2" name="Rectangle 1"/>
          <p:cNvSpPr/>
          <p:nvPr/>
        </p:nvSpPr>
        <p:spPr>
          <a:xfrm>
            <a:off x="0" y="0"/>
            <a:ext cx="9144000" cy="73152"/>
          </a:xfrm>
          <a:prstGeom prst="rect">
            <a:avLst/>
          </a:prstGeom>
          <a:solidFill>
            <a:srgbClr val="134782"/>
          </a:solidFill>
          <a:ln>
            <a:solidFill>
              <a:srgbClr val="1347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65760"/>
            <a:ext cx="8229600" cy="1005840"/>
          </a:xfrm>
          <a:prstGeom prst="rect">
            <a:avLst/>
          </a:prstGeom>
          <a:solidFill>
            <a:srgbClr val="C8D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11480"/>
            <a:ext cx="7863840" cy="914400"/>
          </a:xfrm>
          <a:prstGeom prst="rect">
            <a:avLst/>
          </a:prstGeom>
          <a:noFill/>
        </p:spPr>
        <p:txBody>
          <a:bodyPr wrap="square">
            <a:spAutoFit/>
          </a:bodyPr>
          <a:lstStyle/>
          <a:p>
            <a:pPr algn="l">
              <a:defRPr sz="3600" b="1">
                <a:solidFill>
                  <a:srgbClr val="134782"/>
                </a:solidFill>
                <a:latin typeface="Calibri"/>
              </a:defRPr>
            </a:pPr>
            <a:r>
              <a:t>What is Node.js</a:t>
            </a:r>
          </a:p>
        </p:txBody>
      </p:sp>
      <p:sp>
        <p:nvSpPr>
          <p:cNvPr id="5" name="TextBox 4"/>
          <p:cNvSpPr txBox="1"/>
          <p:nvPr/>
        </p:nvSpPr>
        <p:spPr>
          <a:xfrm>
            <a:off x="457200" y="1463039"/>
            <a:ext cx="8229600" cy="4663440"/>
          </a:xfrm>
          <a:prstGeom prst="rect">
            <a:avLst/>
          </a:prstGeom>
          <a:noFill/>
        </p:spPr>
        <p:txBody>
          <a:bodyPr wrap="square" anchor="t">
            <a:noAutofit/>
          </a:bodyPr>
          <a:lstStyle/>
          <a:p>
            <a:pPr>
              <a:lnSpc>
                <a:spcPct val="115000"/>
              </a:lnSpc>
              <a:spcAft>
                <a:spcPts val="700"/>
              </a:spcAft>
              <a:defRPr sz="1800">
                <a:solidFill>
                  <a:srgbClr val="2D2D2D"/>
                </a:solidFill>
                <a:latin typeface="Calibri"/>
              </a:defRPr>
            </a:pPr>
            <a:r>
              <a:t>Node.js is a JavaScript runtime built on Chrome's V8 JavaScript engine that allows developers to create scalable and high-performance server-side applications. It provides an event-driven, non-blocking I/O model, which makes it efficient and...</a:t>
            </a:r>
          </a:p>
          <a:p>
            <a:pPr>
              <a:lnSpc>
                <a:spcPct val="115000"/>
              </a:lnSpc>
              <a:spcAft>
                <a:spcPts val="500"/>
              </a:spcAft>
              <a:defRPr sz="2000" b="1">
                <a:solidFill>
                  <a:srgbClr val="4678AA"/>
                </a:solidFill>
                <a:latin typeface="Calibri"/>
              </a:defRPr>
            </a:pPr>
            <a:r>
              <a:t>Key Features of Node.js</a:t>
            </a:r>
          </a:p>
          <a:p>
            <a:pPr>
              <a:lnSpc>
                <a:spcPct val="115000"/>
              </a:lnSpc>
              <a:spcAft>
                <a:spcPts val="500"/>
              </a:spcAft>
              <a:defRPr sz="1800">
                <a:solidFill>
                  <a:srgbClr val="3C3C3C"/>
                </a:solidFill>
                <a:latin typeface="Calibri"/>
              </a:defRPr>
            </a:pPr>
            <a:r>
              <a:t>Event-driven and non-blocking I/O model: This allows Node.js to handle multiple requests concurrently, making it highly scalable and efficient.</a:t>
            </a:r>
          </a:p>
          <a:p>
            <a:pPr>
              <a:lnSpc>
                <a:spcPct val="115000"/>
              </a:lnSpc>
              <a:spcAft>
                <a:spcPts val="500"/>
              </a:spcAft>
              <a:defRPr sz="1800">
                <a:solidFill>
                  <a:srgbClr val="3C3C3C"/>
                </a:solidFill>
                <a:latin typeface="Calibri"/>
              </a:defRPr>
            </a:pPr>
            <a:r>
              <a:t>Fast and lightweight: Node.js is built on the V8 JavaScript engine, which provides fast execution and a lightweight footprint.</a:t>
            </a:r>
          </a:p>
          <a:p>
            <a:pPr>
              <a:lnSpc>
                <a:spcPct val="115000"/>
              </a:lnSpc>
              <a:spcAft>
                <a:spcPts val="500"/>
              </a:spcAft>
              <a:defRPr sz="1800">
                <a:solidFill>
                  <a:srgbClr val="3C3C3C"/>
                </a:solidFill>
                <a:latin typeface="Calibri"/>
              </a:defRPr>
            </a:pPr>
            <a:r>
              <a:t>Built on JavaScript: Node.js allows developers to use JavaScript on the server-side, making it easy to integrate with web applications and providing a unified language for development.</a:t>
            </a:r>
          </a:p>
          <a:p>
            <a:pPr>
              <a:lnSpc>
                <a:spcPct val="115000"/>
              </a:lnSpc>
              <a:spcAft>
                <a:spcPts val="500"/>
              </a:spcAft>
              <a:defRPr sz="1800">
                <a:solidFill>
                  <a:srgbClr val="3C3C3C"/>
                </a:solidFill>
                <a:latin typeface="Calibri"/>
              </a:defRPr>
            </a:pPr>
            <a:r>
              <a:t>Large ecosystem of packages and modules: Node.js has a vast ecosystem of packages and modules available through npm (Node Package Manager), which makes it easy to find and install dependencies for projects.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5FF"/>
        </a:solidFill>
        <a:effectLst/>
      </p:bgPr>
    </p:bg>
    <p:spTree>
      <p:nvGrpSpPr>
        <p:cNvPr id="1" name=""/>
        <p:cNvGrpSpPr/>
        <p:nvPr/>
      </p:nvGrpSpPr>
      <p:grpSpPr/>
      <p:sp>
        <p:nvSpPr>
          <p:cNvPr id="2" name="Rectangle 1"/>
          <p:cNvSpPr/>
          <p:nvPr/>
        </p:nvSpPr>
        <p:spPr>
          <a:xfrm>
            <a:off x="0" y="0"/>
            <a:ext cx="9144000" cy="73152"/>
          </a:xfrm>
          <a:prstGeom prst="rect">
            <a:avLst/>
          </a:prstGeom>
          <a:solidFill>
            <a:srgbClr val="134782"/>
          </a:solidFill>
          <a:ln>
            <a:solidFill>
              <a:srgbClr val="1347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65760"/>
            <a:ext cx="8229600" cy="1005840"/>
          </a:xfrm>
          <a:prstGeom prst="rect">
            <a:avLst/>
          </a:prstGeom>
          <a:solidFill>
            <a:srgbClr val="C8D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11480"/>
            <a:ext cx="7863840" cy="914400"/>
          </a:xfrm>
          <a:prstGeom prst="rect">
            <a:avLst/>
          </a:prstGeom>
          <a:noFill/>
        </p:spPr>
        <p:txBody>
          <a:bodyPr wrap="square">
            <a:spAutoFit/>
          </a:bodyPr>
          <a:lstStyle/>
          <a:p>
            <a:pPr algn="l">
              <a:defRPr sz="3600" b="1">
                <a:solidFill>
                  <a:srgbClr val="134782"/>
                </a:solidFill>
                <a:latin typeface="Calibri"/>
              </a:defRPr>
            </a:pPr>
            <a:r>
              <a:t>Use Cases for Node.js</a:t>
            </a:r>
          </a:p>
        </p:txBody>
      </p:sp>
      <p:sp>
        <p:nvSpPr>
          <p:cNvPr id="5" name="TextBox 4"/>
          <p:cNvSpPr txBox="1"/>
          <p:nvPr/>
        </p:nvSpPr>
        <p:spPr>
          <a:xfrm>
            <a:off x="457200" y="1463039"/>
            <a:ext cx="8229600" cy="4663440"/>
          </a:xfrm>
          <a:prstGeom prst="rect">
            <a:avLst/>
          </a:prstGeom>
          <a:noFill/>
        </p:spPr>
        <p:txBody>
          <a:bodyPr wrap="square" anchor="t">
            <a:noAutofit/>
          </a:bodyPr>
          <a:lstStyle/>
          <a:p>
            <a:pPr>
              <a:lnSpc>
                <a:spcPct val="115000"/>
              </a:lnSpc>
              <a:spcAft>
                <a:spcPts val="600"/>
              </a:spcAft>
              <a:defRPr sz="1800">
                <a:solidFill>
                  <a:srgbClr val="3C3C3C"/>
                </a:solidFill>
                <a:latin typeface="Calibri"/>
              </a:defRPr>
            </a:pPr>
            <a:r>
              <a:t>Real-time web applications: Node.js is well-suited for real-time web applications, such as live updates, gaming, and chat applications.</a:t>
            </a:r>
          </a:p>
          <a:p>
            <a:pPr>
              <a:lnSpc>
                <a:spcPct val="115000"/>
              </a:lnSpc>
              <a:spcAft>
                <a:spcPts val="600"/>
              </a:spcAft>
              <a:defRPr sz="1800">
                <a:solidFill>
                  <a:srgbClr val="3C3C3C"/>
                </a:solidFill>
                <a:latin typeface="Calibri"/>
              </a:defRPr>
            </a:pPr>
            <a:r>
              <a:t>Microservices architecture: Node.js can be used to build microservices-based architectures, where multiple services communicate with each other to provide a scalable and resilient system.</a:t>
            </a:r>
          </a:p>
          <a:p>
            <a:pPr>
              <a:lnSpc>
                <a:spcPct val="115000"/>
              </a:lnSpc>
              <a:spcAft>
                <a:spcPts val="600"/>
              </a:spcAft>
              <a:defRPr sz="1800">
                <a:solidFill>
                  <a:srgbClr val="3C3C3C"/>
                </a:solidFill>
                <a:latin typeface="Calibri"/>
              </a:defRPr>
            </a:pPr>
            <a:r>
              <a:t>RESTful APIs: Node.js can be used to build RESTful APIs, which provide a simple and standardized way to interact with web services.</a:t>
            </a:r>
          </a:p>
          <a:p>
            <a:pPr>
              <a:lnSpc>
                <a:spcPct val="115000"/>
              </a:lnSpc>
              <a:spcAft>
                <a:spcPts val="600"/>
              </a:spcAft>
              <a:defRPr sz="1800">
                <a:solidFill>
                  <a:srgbClr val="3C3C3C"/>
                </a:solidFill>
                <a:latin typeface="Calibri"/>
              </a:defRPr>
            </a:pPr>
            <a:r>
              <a:t>Serverless computing: Node.js can be used with serverless computing platforms, such as AWS Lambda, to build scalable and cost-effective applications.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5FF"/>
        </a:solidFill>
        <a:effectLst/>
      </p:bgPr>
    </p:bg>
    <p:spTree>
      <p:nvGrpSpPr>
        <p:cNvPr id="1" name=""/>
        <p:cNvGrpSpPr/>
        <p:nvPr/>
      </p:nvGrpSpPr>
      <p:grpSpPr/>
      <p:sp>
        <p:nvSpPr>
          <p:cNvPr id="2" name="Rectangle 1"/>
          <p:cNvSpPr/>
          <p:nvPr/>
        </p:nvSpPr>
        <p:spPr>
          <a:xfrm>
            <a:off x="0" y="0"/>
            <a:ext cx="9144000" cy="73152"/>
          </a:xfrm>
          <a:prstGeom prst="rect">
            <a:avLst/>
          </a:prstGeom>
          <a:solidFill>
            <a:srgbClr val="134782"/>
          </a:solidFill>
          <a:ln>
            <a:solidFill>
              <a:srgbClr val="1347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65760"/>
            <a:ext cx="8229600" cy="1005840"/>
          </a:xfrm>
          <a:prstGeom prst="rect">
            <a:avLst/>
          </a:prstGeom>
          <a:solidFill>
            <a:srgbClr val="C8D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11480"/>
            <a:ext cx="7863840" cy="914400"/>
          </a:xfrm>
          <a:prstGeom prst="rect">
            <a:avLst/>
          </a:prstGeom>
          <a:noFill/>
        </p:spPr>
        <p:txBody>
          <a:bodyPr wrap="square">
            <a:spAutoFit/>
          </a:bodyPr>
          <a:lstStyle/>
          <a:p>
            <a:pPr algn="l">
              <a:defRPr sz="3600" b="1">
                <a:solidFill>
                  <a:srgbClr val="134782"/>
                </a:solidFill>
                <a:latin typeface="Calibri"/>
              </a:defRPr>
            </a:pPr>
            <a:r>
              <a:t>Getting Started with Node.js</a:t>
            </a:r>
          </a:p>
        </p:txBody>
      </p:sp>
      <p:sp>
        <p:nvSpPr>
          <p:cNvPr id="5" name="TextBox 4"/>
          <p:cNvSpPr txBox="1"/>
          <p:nvPr/>
        </p:nvSpPr>
        <p:spPr>
          <a:xfrm>
            <a:off x="457200" y="1463039"/>
            <a:ext cx="8229600" cy="4663440"/>
          </a:xfrm>
          <a:prstGeom prst="rect">
            <a:avLst/>
          </a:prstGeom>
          <a:noFill/>
        </p:spPr>
        <p:txBody>
          <a:bodyPr wrap="square" anchor="t">
            <a:noAutofit/>
          </a:bodyPr>
          <a:lstStyle/>
          <a:p>
            <a:pPr>
              <a:lnSpc>
                <a:spcPct val="115000"/>
              </a:lnSpc>
              <a:spcAft>
                <a:spcPts val="1000"/>
              </a:spcAft>
              <a:defRPr sz="1800">
                <a:solidFill>
                  <a:srgbClr val="2D2D2D"/>
                </a:solidFill>
                <a:latin typeface="Calibri"/>
              </a:defRPr>
            </a:pPr>
            <a:r>
              <a:t>To start using Node.js, you'll need to install it on your machine, then use npm to install any required packages for your project. You can write your application code in JavaScript and run it using the Node.js command-line interface.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5FF"/>
        </a:solidFill>
        <a:effectLst/>
      </p:bgPr>
    </p:bg>
    <p:spTree>
      <p:nvGrpSpPr>
        <p:cNvPr id="1" name=""/>
        <p:cNvGrpSpPr/>
        <p:nvPr/>
      </p:nvGrpSpPr>
      <p:grpSpPr/>
      <p:sp>
        <p:nvSpPr>
          <p:cNvPr id="2" name="Rectangle 1"/>
          <p:cNvSpPr/>
          <p:nvPr/>
        </p:nvSpPr>
        <p:spPr>
          <a:xfrm>
            <a:off x="0" y="0"/>
            <a:ext cx="9144000" cy="73152"/>
          </a:xfrm>
          <a:prstGeom prst="rect">
            <a:avLst/>
          </a:prstGeom>
          <a:solidFill>
            <a:srgbClr val="134782"/>
          </a:solidFill>
          <a:ln>
            <a:solidFill>
              <a:srgbClr val="1347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65760"/>
            <a:ext cx="8229600" cy="1005840"/>
          </a:xfrm>
          <a:prstGeom prst="rect">
            <a:avLst/>
          </a:prstGeom>
          <a:solidFill>
            <a:srgbClr val="C8D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11480"/>
            <a:ext cx="7863840" cy="914400"/>
          </a:xfrm>
          <a:prstGeom prst="rect">
            <a:avLst/>
          </a:prstGeom>
          <a:noFill/>
        </p:spPr>
        <p:txBody>
          <a:bodyPr wrap="square">
            <a:spAutoFit/>
          </a:bodyPr>
          <a:lstStyle/>
          <a:p>
            <a:pPr algn="l">
              <a:defRPr sz="3600" b="1">
                <a:solidFill>
                  <a:srgbClr val="134782"/>
                </a:solidFill>
                <a:latin typeface="Calibri"/>
              </a:defRPr>
            </a:pPr>
            <a:r>
              <a:t>Detailed Explanation of Node.js</a:t>
            </a:r>
          </a:p>
        </p:txBody>
      </p:sp>
      <p:sp>
        <p:nvSpPr>
          <p:cNvPr id="5" name="TextBox 4"/>
          <p:cNvSpPr txBox="1"/>
          <p:nvPr/>
        </p:nvSpPr>
        <p:spPr>
          <a:xfrm>
            <a:off x="457200" y="1463039"/>
            <a:ext cx="8229600" cy="4663440"/>
          </a:xfrm>
          <a:prstGeom prst="rect">
            <a:avLst/>
          </a:prstGeom>
          <a:noFill/>
        </p:spPr>
        <p:txBody>
          <a:bodyPr wrap="square" anchor="t">
            <a:noAutofit/>
          </a:bodyPr>
          <a:lstStyle/>
          <a:p>
            <a:pPr>
              <a:lnSpc>
                <a:spcPct val="110000"/>
              </a:lnSpc>
              <a:spcAft>
                <a:spcPts val="300"/>
              </a:spcAft>
              <a:defRPr sz="2000" b="1">
                <a:solidFill>
                  <a:srgbClr val="4678AA"/>
                </a:solidFill>
                <a:latin typeface="Calibri"/>
              </a:defRPr>
            </a:pPr>
            <a:r>
              <a:t>Architecture</a:t>
            </a:r>
          </a:p>
          <a:p>
            <a:pPr>
              <a:lnSpc>
                <a:spcPct val="110000"/>
              </a:lnSpc>
              <a:spcAft>
                <a:spcPts val="500"/>
              </a:spcAft>
              <a:defRPr sz="1800">
                <a:solidFill>
                  <a:srgbClr val="2D2D2D"/>
                </a:solidFill>
                <a:latin typeface="Calibri"/>
              </a:defRPr>
            </a:pPr>
            <a:r>
              <a:t>Node.js is built on a single-threaded, event-driven architecture, which makes it efficient and scalable. The architecture consists of the following components:</a:t>
            </a:r>
          </a:p>
          <a:p>
            <a:pPr>
              <a:lnSpc>
                <a:spcPct val="110000"/>
              </a:lnSpc>
              <a:spcAft>
                <a:spcPts val="300"/>
              </a:spcAft>
              <a:defRPr sz="1800">
                <a:solidFill>
                  <a:srgbClr val="3C3C3C"/>
                </a:solidFill>
                <a:latin typeface="Calibri"/>
              </a:defRPr>
            </a:pPr>
            <a:r>
              <a:t>V8 JavaScript engine: This is the JavaScript engine that executes the application code.</a:t>
            </a:r>
          </a:p>
          <a:p>
            <a:pPr>
              <a:lnSpc>
                <a:spcPct val="110000"/>
              </a:lnSpc>
              <a:spcAft>
                <a:spcPts val="300"/>
              </a:spcAft>
              <a:defRPr sz="1800">
                <a:solidFill>
                  <a:srgbClr val="3C3C3C"/>
                </a:solidFill>
                <a:latin typeface="Calibri"/>
              </a:defRPr>
            </a:pPr>
            <a:r>
              <a:t>libuv: This is a cross-platform library that provides an asynchronous I/O interface.</a:t>
            </a:r>
          </a:p>
          <a:p>
            <a:pPr>
              <a:lnSpc>
                <a:spcPct val="110000"/>
              </a:lnSpc>
              <a:spcAft>
                <a:spcPts val="300"/>
              </a:spcAft>
              <a:defRPr sz="1800">
                <a:solidFill>
                  <a:srgbClr val="3C3C3C"/>
                </a:solidFill>
                <a:latin typeface="Calibri"/>
              </a:defRPr>
            </a:pPr>
            <a:r>
              <a:t>npm: This is the package manager for Node.js, which allows developers to install and manage dependencies.</a:t>
            </a:r>
          </a:p>
          <a:p>
            <a:pPr>
              <a:lnSpc>
                <a:spcPct val="110000"/>
              </a:lnSpc>
              <a:spcAft>
                <a:spcPts val="300"/>
              </a:spcAft>
              <a:defRPr sz="2000" b="1">
                <a:solidFill>
                  <a:srgbClr val="4678AA"/>
                </a:solidFill>
                <a:latin typeface="Calibri"/>
              </a:defRPr>
            </a:pPr>
            <a:r>
              <a:t>Node.js Core Modules</a:t>
            </a:r>
          </a:p>
          <a:p>
            <a:pPr>
              <a:lnSpc>
                <a:spcPct val="110000"/>
              </a:lnSpc>
              <a:spcAft>
                <a:spcPts val="500"/>
              </a:spcAft>
              <a:defRPr sz="1800">
                <a:solidFill>
                  <a:srgbClr val="2D2D2D"/>
                </a:solidFill>
                <a:latin typeface="Calibri"/>
              </a:defRPr>
            </a:pPr>
            <a:r>
              <a:t>Node.js provides a set of core modules that provide basic functionality, such as:</a:t>
            </a:r>
          </a:p>
          <a:p>
            <a:pPr>
              <a:lnSpc>
                <a:spcPct val="110000"/>
              </a:lnSpc>
              <a:spcAft>
                <a:spcPts val="300"/>
              </a:spcAft>
              <a:defRPr sz="1800">
                <a:solidFill>
                  <a:srgbClr val="3C3C3C"/>
                </a:solidFill>
                <a:latin typeface="Calibri"/>
              </a:defRPr>
            </a:pPr>
            <a:r>
              <a:t>http: This module provides an HTTP server and client implementation.</a:t>
            </a:r>
          </a:p>
          <a:p>
            <a:pPr>
              <a:lnSpc>
                <a:spcPct val="110000"/>
              </a:lnSpc>
              <a:spcAft>
                <a:spcPts val="300"/>
              </a:spcAft>
              <a:defRPr sz="1800">
                <a:solidFill>
                  <a:srgbClr val="3C3C3C"/>
                </a:solidFill>
                <a:latin typeface="Calibri"/>
              </a:defRPr>
            </a:pPr>
            <a:r>
              <a:t>fs: This module provides an interface to the file system.</a:t>
            </a:r>
          </a:p>
          <a:p>
            <a:pPr>
              <a:lnSpc>
                <a:spcPct val="110000"/>
              </a:lnSpc>
              <a:spcAft>
                <a:spcPts val="300"/>
              </a:spcAft>
              <a:defRPr sz="1800">
                <a:solidFill>
                  <a:srgbClr val="3C3C3C"/>
                </a:solidFill>
                <a:latin typeface="Calibri"/>
              </a:defRPr>
            </a:pPr>
            <a:r>
              <a:t>path: This module provides an interface to the file system path.</a:t>
            </a:r>
          </a:p>
          <a:p>
            <a:pPr>
              <a:lnSpc>
                <a:spcPct val="110000"/>
              </a:lnSpc>
              <a:spcAft>
                <a:spcPts val="300"/>
              </a:spcAft>
              <a:defRPr sz="1800">
                <a:solidFill>
                  <a:srgbClr val="3C3C3C"/>
                </a:solidFill>
                <a:latin typeface="Calibri"/>
              </a:defRPr>
            </a:pPr>
            <a:r>
              <a:t>util: This module provides a set of utility functions.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5FF"/>
        </a:solidFill>
        <a:effectLst/>
      </p:bgPr>
    </p:bg>
    <p:spTree>
      <p:nvGrpSpPr>
        <p:cNvPr id="1" name=""/>
        <p:cNvGrpSpPr/>
        <p:nvPr/>
      </p:nvGrpSpPr>
      <p:grpSpPr/>
      <p:sp>
        <p:nvSpPr>
          <p:cNvPr id="2" name="Rectangle 1"/>
          <p:cNvSpPr/>
          <p:nvPr/>
        </p:nvSpPr>
        <p:spPr>
          <a:xfrm>
            <a:off x="0" y="0"/>
            <a:ext cx="9144000" cy="73152"/>
          </a:xfrm>
          <a:prstGeom prst="rect">
            <a:avLst/>
          </a:prstGeom>
          <a:solidFill>
            <a:srgbClr val="134782"/>
          </a:solidFill>
          <a:ln>
            <a:solidFill>
              <a:srgbClr val="1347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65760"/>
            <a:ext cx="8229600" cy="1005840"/>
          </a:xfrm>
          <a:prstGeom prst="rect">
            <a:avLst/>
          </a:prstGeom>
          <a:solidFill>
            <a:srgbClr val="C8D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11480"/>
            <a:ext cx="7863840" cy="914400"/>
          </a:xfrm>
          <a:prstGeom prst="rect">
            <a:avLst/>
          </a:prstGeom>
          <a:noFill/>
        </p:spPr>
        <p:txBody>
          <a:bodyPr wrap="square">
            <a:spAutoFit/>
          </a:bodyPr>
          <a:lstStyle/>
          <a:p>
            <a:pPr algn="l">
              <a:defRPr sz="3600" b="1">
                <a:solidFill>
                  <a:srgbClr val="134782"/>
                </a:solidFill>
                <a:latin typeface="Calibri"/>
              </a:defRPr>
            </a:pPr>
            <a:r>
              <a:t>Examples of Node.js in Action</a:t>
            </a:r>
          </a:p>
        </p:txBody>
      </p:sp>
      <p:sp>
        <p:nvSpPr>
          <p:cNvPr id="5" name="TextBox 4"/>
          <p:cNvSpPr txBox="1"/>
          <p:nvPr/>
        </p:nvSpPr>
        <p:spPr>
          <a:xfrm>
            <a:off x="457200" y="1463039"/>
            <a:ext cx="8229600" cy="4663440"/>
          </a:xfrm>
          <a:prstGeom prst="rect">
            <a:avLst/>
          </a:prstGeom>
          <a:noFill/>
        </p:spPr>
        <p:txBody>
          <a:bodyPr wrap="square" anchor="t">
            <a:noAutofit/>
          </a:bodyPr>
          <a:lstStyle/>
          <a:p>
            <a:pPr>
              <a:lnSpc>
                <a:spcPct val="110000"/>
              </a:lnSpc>
              <a:spcAft>
                <a:spcPts val="200"/>
              </a:spcAft>
              <a:defRPr sz="2000" b="1">
                <a:solidFill>
                  <a:srgbClr val="4678AA"/>
                </a:solidFill>
                <a:latin typeface="Calibri"/>
              </a:defRPr>
            </a:pPr>
            <a:r>
              <a:t>Example 1: Simple HTTP Server</a:t>
            </a:r>
          </a:p>
          <a:p>
            <a:pPr>
              <a:lnSpc>
                <a:spcPct val="110000"/>
              </a:lnSpc>
              <a:spcAft>
                <a:spcPts val="400"/>
              </a:spcAft>
              <a:defRPr sz="1800">
                <a:solidFill>
                  <a:srgbClr val="2D2D2D"/>
                </a:solidFill>
                <a:latin typeface="Calibri"/>
              </a:defRPr>
            </a:pPr>
            <a:r>
              <a:t>`javascript</a:t>
            </a:r>
          </a:p>
          <a:p>
            <a:pPr>
              <a:lnSpc>
                <a:spcPct val="110000"/>
              </a:lnSpc>
              <a:spcAft>
                <a:spcPts val="400"/>
              </a:spcAft>
              <a:defRPr sz="1800">
                <a:solidFill>
                  <a:srgbClr val="2D2D2D"/>
                </a:solidFill>
                <a:latin typeface="Calibri"/>
              </a:defRPr>
            </a:pPr>
            <a:r>
              <a:t>const http = require('http');</a:t>
            </a:r>
          </a:p>
          <a:p>
            <a:pPr>
              <a:lnSpc>
                <a:spcPct val="110000"/>
              </a:lnSpc>
              <a:spcAft>
                <a:spcPts val="400"/>
              </a:spcAft>
              <a:defRPr sz="1800">
                <a:solidFill>
                  <a:srgbClr val="2D2D2D"/>
                </a:solidFill>
                <a:latin typeface="Calibri"/>
              </a:defRPr>
            </a:pPr>
            <a:r>
              <a:t>http.createServer((req, res) =&gt; {</a:t>
            </a:r>
          </a:p>
          <a:p>
            <a:pPr>
              <a:lnSpc>
                <a:spcPct val="110000"/>
              </a:lnSpc>
              <a:spcAft>
                <a:spcPts val="400"/>
              </a:spcAft>
              <a:defRPr sz="1800">
                <a:solidFill>
                  <a:srgbClr val="2D2D2D"/>
                </a:solidFill>
                <a:latin typeface="Calibri"/>
              </a:defRPr>
            </a:pPr>
            <a:r>
              <a:t>res.writeHead(200, {'Content-Type': 'text/plain'});</a:t>
            </a:r>
          </a:p>
          <a:p>
            <a:pPr>
              <a:lnSpc>
                <a:spcPct val="110000"/>
              </a:lnSpc>
              <a:spcAft>
                <a:spcPts val="400"/>
              </a:spcAft>
              <a:defRPr sz="1800">
                <a:solidFill>
                  <a:srgbClr val="2D2D2D"/>
                </a:solidFill>
                <a:latin typeface="Calibri"/>
              </a:defRPr>
            </a:pPr>
            <a:r>
              <a:t>res.end('Hello World\n');</a:t>
            </a:r>
          </a:p>
          <a:p>
            <a:pPr>
              <a:lnSpc>
                <a:spcPct val="110000"/>
              </a:lnSpc>
              <a:spcAft>
                <a:spcPts val="400"/>
              </a:spcAft>
              <a:defRPr sz="1800">
                <a:solidFill>
                  <a:srgbClr val="2D2D2D"/>
                </a:solidFill>
                <a:latin typeface="Calibri"/>
              </a:defRPr>
            </a:pPr>
            <a:r>
              <a:t>}).listen(3000, =&gt; {</a:t>
            </a:r>
          </a:p>
          <a:p>
            <a:pPr>
              <a:lnSpc>
                <a:spcPct val="110000"/>
              </a:lnSpc>
              <a:spcAft>
                <a:spcPts val="400"/>
              </a:spcAft>
              <a:defRPr sz="1800">
                <a:solidFill>
                  <a:srgbClr val="2D2D2D"/>
                </a:solidFill>
                <a:latin typeface="Calibri"/>
              </a:defRPr>
            </a:pPr>
            <a:r>
              <a:t>console.log('Server running on port 3000');</a:t>
            </a:r>
          </a:p>
          <a:p>
            <a:pPr>
              <a:lnSpc>
                <a:spcPct val="110000"/>
              </a:lnSpc>
              <a:spcAft>
                <a:spcPts val="400"/>
              </a:spcAft>
              <a:defRPr sz="1800">
                <a:solidFill>
                  <a:srgbClr val="2D2D2D"/>
                </a:solidFill>
                <a:latin typeface="Calibri"/>
              </a:defRPr>
            </a:pPr>
            <a:r>
              <a:t>This example creates a simple HTTP server that listens on port 3000 and responds with "Hello World" when a request is made.</a:t>
            </a:r>
          </a:p>
          <a:p>
            <a:pPr>
              <a:lnSpc>
                <a:spcPct val="110000"/>
              </a:lnSpc>
              <a:spcAft>
                <a:spcPts val="200"/>
              </a:spcAft>
              <a:defRPr sz="2000" b="1">
                <a:solidFill>
                  <a:srgbClr val="4678AA"/>
                </a:solidFill>
                <a:latin typeface="Calibri"/>
              </a:defRPr>
            </a:pPr>
            <a:r>
              <a:t>Example 2: File System Interaction</a:t>
            </a:r>
          </a:p>
          <a:p>
            <a:pPr>
              <a:lnSpc>
                <a:spcPct val="110000"/>
              </a:lnSpc>
              <a:spcAft>
                <a:spcPts val="400"/>
              </a:spcAft>
              <a:defRPr sz="1800">
                <a:solidFill>
                  <a:srgbClr val="2D2D2D"/>
                </a:solidFill>
                <a:latin typeface="Calibri"/>
              </a:defRPr>
            </a:pPr>
            <a:r>
              <a:t>`javascript</a:t>
            </a:r>
          </a:p>
          <a:p>
            <a:pPr>
              <a:lnSpc>
                <a:spcPct val="110000"/>
              </a:lnSpc>
              <a:spcAft>
                <a:spcPts val="400"/>
              </a:spcAft>
              <a:defRPr sz="1800">
                <a:solidFill>
                  <a:srgbClr val="2D2D2D"/>
                </a:solidFill>
                <a:latin typeface="Calibri"/>
              </a:defRPr>
            </a:pPr>
            <a:r>
              <a:t>const fs = require('fs');</a:t>
            </a:r>
          </a:p>
          <a:p>
            <a:pPr>
              <a:lnSpc>
                <a:spcPct val="110000"/>
              </a:lnSpc>
              <a:spcAft>
                <a:spcPts val="400"/>
              </a:spcAft>
              <a:defRPr sz="1800">
                <a:solidFill>
                  <a:srgbClr val="2D2D2D"/>
                </a:solidFill>
                <a:latin typeface="Calibri"/>
              </a:defRPr>
            </a:pPr>
            <a:r>
              <a:t>fs.readFile('example.txt', (err, data) =&gt; {</a:t>
            </a:r>
          </a:p>
          <a:p>
            <a:pPr>
              <a:lnSpc>
                <a:spcPct val="110000"/>
              </a:lnSpc>
              <a:spcAft>
                <a:spcPts val="400"/>
              </a:spcAft>
              <a:defRPr sz="1800">
                <a:solidFill>
                  <a:srgbClr val="2D2D2D"/>
                </a:solidFill>
                <a:latin typeface="Calibri"/>
              </a:defRPr>
            </a:pPr>
            <a:r>
              <a:t>if (err) {</a:t>
            </a:r>
          </a:p>
          <a:p>
            <a:pPr>
              <a:lnSpc>
                <a:spcPct val="110000"/>
              </a:lnSpc>
              <a:spcAft>
                <a:spcPts val="400"/>
              </a:spcAft>
              <a:defRPr sz="1800">
                <a:solidFill>
                  <a:srgbClr val="2D2D2D"/>
                </a:solidFill>
                <a:latin typeface="Calibri"/>
              </a:defRPr>
            </a:pPr>
            <a:r>
              <a:t>console.error(err);</a:t>
            </a:r>
          </a:p>
          <a:p>
            <a:pPr>
              <a:lnSpc>
                <a:spcPct val="110000"/>
              </a:lnSpc>
              <a:spcAft>
                <a:spcPts val="400"/>
              </a:spcAft>
              <a:defRPr sz="1800">
                <a:solidFill>
                  <a:srgbClr val="2D2D2D"/>
                </a:solidFill>
                <a:latin typeface="Calibri"/>
              </a:defRPr>
            </a:pPr>
            <a:r>
              <a:t>} else {</a:t>
            </a:r>
          </a:p>
          <a:p>
            <a:pPr>
              <a:lnSpc>
                <a:spcPct val="110000"/>
              </a:lnSpc>
              <a:spcAft>
                <a:spcPts val="400"/>
              </a:spcAft>
              <a:defRPr sz="1800">
                <a:solidFill>
                  <a:srgbClr val="2D2D2D"/>
                </a:solidFill>
                <a:latin typeface="Calibri"/>
              </a:defRPr>
            </a:pPr>
            <a:r>
              <a:t>console.log(data.toString);</a:t>
            </a:r>
          </a:p>
          <a:p>
            <a:pPr>
              <a:lnSpc>
                <a:spcPct val="110000"/>
              </a:lnSpc>
              <a:spcAft>
                <a:spcPts val="400"/>
              </a:spcAft>
              <a:defRPr sz="1800">
                <a:solidFill>
                  <a:srgbClr val="2D2D2D"/>
                </a:solidFill>
                <a:latin typeface="Calibri"/>
              </a:defRPr>
            </a:pPr>
            <a:r>
              <a:t>This example reads the contents of a file named "example.txt" and logs the contents to the console.</a:t>
            </a:r>
          </a:p>
          <a:p>
            <a:pPr>
              <a:lnSpc>
                <a:spcPct val="110000"/>
              </a:lnSpc>
              <a:spcAft>
                <a:spcPts val="200"/>
              </a:spcAft>
              <a:defRPr sz="2000" b="1">
                <a:solidFill>
                  <a:srgbClr val="4678AA"/>
                </a:solidFill>
                <a:latin typeface="Calibri"/>
              </a:defRPr>
            </a:pPr>
            <a:r>
              <a:t>Example 3: RESTful API</a:t>
            </a:r>
          </a:p>
          <a:p>
            <a:pPr>
              <a:lnSpc>
                <a:spcPct val="110000"/>
              </a:lnSpc>
              <a:spcAft>
                <a:spcPts val="400"/>
              </a:spcAft>
              <a:defRPr sz="1800">
                <a:solidFill>
                  <a:srgbClr val="2D2D2D"/>
                </a:solidFill>
                <a:latin typeface="Calibri"/>
              </a:defRPr>
            </a:pPr>
            <a:r>
              <a:t>`javascript</a:t>
            </a:r>
          </a:p>
          <a:p>
            <a:pPr>
              <a:lnSpc>
                <a:spcPct val="110000"/>
              </a:lnSpc>
              <a:spcAft>
                <a:spcPts val="400"/>
              </a:spcAft>
              <a:defRPr sz="1800">
                <a:solidFill>
                  <a:srgbClr val="2D2D2D"/>
                </a:solidFill>
                <a:latin typeface="Calibri"/>
              </a:defRPr>
            </a:pPr>
            <a:r>
              <a:t>const express = require('express');</a:t>
            </a:r>
          </a:p>
          <a:p>
            <a:pPr>
              <a:lnSpc>
                <a:spcPct val="110000"/>
              </a:lnSpc>
              <a:spcAft>
                <a:spcPts val="400"/>
              </a:spcAft>
              <a:defRPr sz="1800">
                <a:solidFill>
                  <a:srgbClr val="2D2D2D"/>
                </a:solidFill>
                <a:latin typeface="Calibri"/>
              </a:defRPr>
            </a:pPr>
            <a:r>
              <a:t>const app = express;</a:t>
            </a:r>
          </a:p>
          <a:p>
            <a:pPr>
              <a:lnSpc>
                <a:spcPct val="110000"/>
              </a:lnSpc>
              <a:spcAft>
                <a:spcPts val="400"/>
              </a:spcAft>
              <a:defRPr sz="1800">
                <a:solidFill>
                  <a:srgbClr val="2D2D2D"/>
                </a:solidFill>
                <a:latin typeface="Calibri"/>
              </a:defRPr>
            </a:pPr>
            <a:r>
              <a:t>app.get('/users', (req, res) =&gt; {</a:t>
            </a:r>
          </a:p>
          <a:p>
            <a:pPr>
              <a:lnSpc>
                <a:spcPct val="110000"/>
              </a:lnSpc>
              <a:spcAft>
                <a:spcPts val="400"/>
              </a:spcAft>
              <a:defRPr sz="1800">
                <a:solidFill>
                  <a:srgbClr val="2D2D2D"/>
                </a:solidFill>
                <a:latin typeface="Calibri"/>
              </a:defRPr>
            </a:pPr>
            <a:r>
              <a:t>res.json([{name: 'John Doe', age: 30}, {name: 'Jane Doe', age: 25}]);</a:t>
            </a:r>
          </a:p>
          <a:p>
            <a:pPr>
              <a:lnSpc>
                <a:spcPct val="110000"/>
              </a:lnSpc>
              <a:spcAft>
                <a:spcPts val="400"/>
              </a:spcAft>
              <a:defRPr sz="1800">
                <a:solidFill>
                  <a:srgbClr val="2D2D2D"/>
                </a:solidFill>
                <a:latin typeface="Calibri"/>
              </a:defRPr>
            </a:pPr>
            <a:r>
              <a:t>app.listen(3000, =&gt; {</a:t>
            </a:r>
          </a:p>
          <a:p>
            <a:pPr>
              <a:lnSpc>
                <a:spcPct val="110000"/>
              </a:lnSpc>
              <a:spcAft>
                <a:spcPts val="400"/>
              </a:spcAft>
              <a:defRPr sz="1800">
                <a:solidFill>
                  <a:srgbClr val="2D2D2D"/>
                </a:solidFill>
                <a:latin typeface="Calibri"/>
              </a:defRPr>
            </a:pPr>
            <a:r>
              <a:t>console.log('Server running on port 3000');</a:t>
            </a:r>
          </a:p>
          <a:p>
            <a:pPr>
              <a:lnSpc>
                <a:spcPct val="110000"/>
              </a:lnSpc>
              <a:spcAft>
                <a:spcPts val="400"/>
              </a:spcAft>
              <a:defRPr sz="1800">
                <a:solidFill>
                  <a:srgbClr val="2D2D2D"/>
                </a:solidFill>
                <a:latin typeface="Calibri"/>
              </a:defRPr>
            </a:pPr>
            <a:r>
              <a:t>This example creates a simple RESTful API using the Express.js framework that responds with a list of users when a GET request is made to the "/users" endpoint.</a:t>
            </a:r>
          </a:p>
          <a:p>
            <a:pPr>
              <a:lnSpc>
                <a:spcPct val="110000"/>
              </a:lnSpc>
              <a:spcAft>
                <a:spcPts val="400"/>
              </a:spcAft>
              <a:defRPr sz="1800">
                <a:solidFill>
                  <a:srgbClr val="2D2D2D"/>
                </a:solidFill>
                <a:latin typeface="Calibri"/>
              </a:defRPr>
            </a:pPr>
            <a:r>
              <a:t>Please let me know if you'd like to add more examples or modify the existing content.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