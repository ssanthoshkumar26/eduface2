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4782"/>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714500"/>
            <a:ext cx="8229600" cy="1371600"/>
          </a:xfrm>
          <a:prstGeom prst="rect">
            <a:avLst/>
          </a:prstGeom>
          <a:noFill/>
        </p:spPr>
        <p:txBody>
          <a:bodyPr wrap="square">
            <a:spAutoFit/>
          </a:bodyPr>
          <a:lstStyle/>
          <a:p>
            <a:pPr algn="ctr">
              <a:lnSpc>
                <a:spcPct val="120000"/>
              </a:lnSpc>
              <a:defRPr sz="5400" b="1">
                <a:solidFill>
                  <a:srgbClr val="FFFFFF"/>
                </a:solidFill>
                <a:latin typeface="Calibri"/>
              </a:defRPr>
            </a:pPr>
            <a:r>
              <a:t>sample</a:t>
            </a:r>
          </a:p>
        </p:txBody>
      </p:sp>
      <p:sp>
        <p:nvSpPr>
          <p:cNvPr id="4" name="TextBox 3"/>
          <p:cNvSpPr txBox="1"/>
          <p:nvPr/>
        </p:nvSpPr>
        <p:spPr>
          <a:xfrm>
            <a:off x="457200" y="3429000"/>
            <a:ext cx="8229600" cy="914400"/>
          </a:xfrm>
          <a:prstGeom prst="rect">
            <a:avLst/>
          </a:prstGeom>
          <a:noFill/>
        </p:spPr>
        <p:txBody>
          <a:bodyPr wrap="square">
            <a:spAutoFit/>
          </a:bodyPr>
          <a:lstStyle/>
          <a:p>
            <a:pPr algn="ctr">
              <a:defRPr sz="2400">
                <a:solidFill>
                  <a:srgbClr val="DCE6FA"/>
                </a:solidFill>
                <a:latin typeface="Calibri"/>
              </a:defRPr>
            </a:pPr>
            <a:r>
              <a:t>Java: A Detailed Overview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Java: A Detailed Overview</a:t>
            </a:r>
          </a:p>
        </p:txBody>
      </p:sp>
      <p:sp>
        <p:nvSpPr>
          <p:cNvPr id="5" name="TextBox 4"/>
          <p:cNvSpPr txBox="1"/>
          <p:nvPr/>
        </p:nvSpPr>
        <p:spPr>
          <a:xfrm>
            <a:off x="457200" y="1463039"/>
            <a:ext cx="8229600" cy="4663440"/>
          </a:xfrm>
          <a:prstGeom prst="rect">
            <a:avLst/>
          </a:prstGeom>
          <a:noFill/>
        </p:spPr>
        <p:txBody>
          <a:bodyPr wrap="square" anchor="t">
            <a:noAutofit/>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Introduction to Java</a:t>
            </a:r>
          </a:p>
        </p:txBody>
      </p:sp>
      <p:pic>
        <p:nvPicPr>
          <p:cNvPr id="5" name="Picture 4" descr="image.jpg"/>
          <p:cNvPicPr>
            <a:picLocks noChangeAspect="1"/>
          </p:cNvPicPr>
          <p:nvPr/>
        </p:nvPicPr>
        <p:blipFill>
          <a:blip r:embed="rId2"/>
          <a:stretch>
            <a:fillRect/>
          </a:stretch>
        </p:blipFill>
        <p:spPr>
          <a:xfrm>
            <a:off x="5486400" y="1463039"/>
            <a:ext cx="2926080" cy="3840480"/>
          </a:xfrm>
          <a:prstGeom prst="rect">
            <a:avLst/>
          </a:prstGeom>
        </p:spPr>
      </p:pic>
      <p:sp>
        <p:nvSpPr>
          <p:cNvPr id="6" name="TextBox 5"/>
          <p:cNvSpPr txBox="1"/>
          <p:nvPr/>
        </p:nvSpPr>
        <p:spPr>
          <a:xfrm>
            <a:off x="457200" y="1463039"/>
            <a:ext cx="4389120" cy="4663440"/>
          </a:xfrm>
          <a:prstGeom prst="rect">
            <a:avLst/>
          </a:prstGeom>
          <a:noFill/>
        </p:spPr>
        <p:txBody>
          <a:bodyPr wrap="square" anchor="t">
            <a:noAutofit/>
          </a:bodyPr>
          <a:lstStyle/>
          <a:p>
            <a:pPr>
              <a:lnSpc>
                <a:spcPct val="115000"/>
              </a:lnSpc>
              <a:spcAft>
                <a:spcPts val="700"/>
              </a:spcAft>
              <a:defRPr sz="1150">
                <a:solidFill>
                  <a:srgbClr val="2D2D2D"/>
                </a:solidFill>
                <a:latin typeface="Calibri"/>
              </a:defRPr>
            </a:pPr>
            <a:r>
              <a:t>Java is a high-level, object-oriented programming language developed by James Gosling at Sun Microsystems (now owned by Oracle) in 1995.</a:t>
            </a:r>
          </a:p>
          <a:p>
            <a:pPr>
              <a:lnSpc>
                <a:spcPct val="115000"/>
              </a:lnSpc>
              <a:spcAft>
                <a:spcPts val="500"/>
              </a:spcAft>
              <a:defRPr sz="1150">
                <a:solidFill>
                  <a:srgbClr val="3C3C3C"/>
                </a:solidFill>
                <a:latin typeface="Calibri"/>
              </a:defRPr>
            </a:pPr>
            <a:r>
              <a:t>It's designed for building robust and secure applications with a "write once, run anywhere" philosophy</a:t>
            </a:r>
          </a:p>
          <a:p>
            <a:pPr>
              <a:lnSpc>
                <a:spcPct val="115000"/>
              </a:lnSpc>
              <a:spcAft>
                <a:spcPts val="500"/>
              </a:spcAft>
              <a:defRPr sz="1150">
                <a:solidFill>
                  <a:srgbClr val="3C3C3C"/>
                </a:solidFill>
                <a:latin typeface="Calibri"/>
              </a:defRPr>
            </a:pPr>
            <a:r>
              <a:t>Java supports platform independence through the use of bytecode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Key Features of Java</a:t>
            </a:r>
          </a:p>
        </p:txBody>
      </p:sp>
      <p:pic>
        <p:nvPicPr>
          <p:cNvPr id="5" name="Picture 4" descr="image.jpg"/>
          <p:cNvPicPr>
            <a:picLocks noChangeAspect="1"/>
          </p:cNvPicPr>
          <p:nvPr/>
        </p:nvPicPr>
        <p:blipFill>
          <a:blip r:embed="rId2"/>
          <a:stretch>
            <a:fillRect/>
          </a:stretch>
        </p:blipFill>
        <p:spPr>
          <a:xfrm>
            <a:off x="5486400" y="1463039"/>
            <a:ext cx="2926080" cy="3840480"/>
          </a:xfrm>
          <a:prstGeom prst="rect">
            <a:avLst/>
          </a:prstGeom>
        </p:spPr>
      </p:pic>
      <p:sp>
        <p:nvSpPr>
          <p:cNvPr id="6" name="TextBox 5"/>
          <p:cNvSpPr txBox="1"/>
          <p:nvPr/>
        </p:nvSpPr>
        <p:spPr>
          <a:xfrm>
            <a:off x="457200" y="1463039"/>
            <a:ext cx="4389120" cy="4663440"/>
          </a:xfrm>
          <a:prstGeom prst="rect">
            <a:avLst/>
          </a:prstGeom>
          <a:noFill/>
        </p:spPr>
        <p:txBody>
          <a:bodyPr wrap="square" anchor="t">
            <a:noAutofit/>
          </a:bodyPr>
          <a:lstStyle/>
          <a:p>
            <a:pPr>
              <a:lnSpc>
                <a:spcPct val="110000"/>
              </a:lnSpc>
              <a:spcAft>
                <a:spcPts val="200"/>
              </a:spcAft>
              <a:defRPr sz="1100" b="1">
                <a:solidFill>
                  <a:srgbClr val="4678AA"/>
                </a:solidFill>
                <a:latin typeface="Calibri"/>
              </a:defRPr>
            </a:pPr>
            <a:r>
              <a:t>Simple</a:t>
            </a:r>
          </a:p>
          <a:p>
            <a:pPr>
              <a:lnSpc>
                <a:spcPct val="110000"/>
              </a:lnSpc>
              <a:spcAft>
                <a:spcPts val="200"/>
              </a:spcAft>
              <a:defRPr sz="1000">
                <a:solidFill>
                  <a:srgbClr val="3C3C3C"/>
                </a:solidFill>
                <a:latin typeface="Calibri"/>
              </a:defRPr>
            </a:pPr>
            <a:r>
              <a:t>Uses English keywords for objects, classes, and methods, making it easy to understand</a:t>
            </a:r>
          </a:p>
          <a:p>
            <a:pPr>
              <a:lnSpc>
                <a:spcPct val="110000"/>
              </a:lnSpc>
              <a:spcAft>
                <a:spcPts val="200"/>
              </a:spcAft>
              <a:defRPr sz="1000">
                <a:solidFill>
                  <a:srgbClr val="3C3C3C"/>
                </a:solidFill>
                <a:latin typeface="Calibri"/>
              </a:defRPr>
            </a:pPr>
            <a:r>
              <a:t>Removes complexities by abstracting low-level details from the developer</a:t>
            </a:r>
          </a:p>
          <a:p>
            <a:pPr>
              <a:lnSpc>
                <a:spcPct val="110000"/>
              </a:lnSpc>
              <a:spcAft>
                <a:spcPts val="200"/>
              </a:spcAft>
              <a:defRPr sz="1100" b="1">
                <a:solidFill>
                  <a:srgbClr val="4678AA"/>
                </a:solidFill>
                <a:latin typeface="Calibri"/>
              </a:defRPr>
            </a:pPr>
            <a:r>
              <a:t>Object-Oriented</a:t>
            </a:r>
          </a:p>
          <a:p>
            <a:pPr>
              <a:lnSpc>
                <a:spcPct val="110000"/>
              </a:lnSpc>
              <a:spcAft>
                <a:spcPts val="200"/>
              </a:spcAft>
              <a:defRPr sz="1000">
                <a:solidFill>
                  <a:srgbClr val="3C3C3C"/>
                </a:solidFill>
                <a:latin typeface="Calibri"/>
              </a:defRPr>
            </a:pPr>
            <a:r>
              <a:t>Provides a clean and modular approach to software development</a:t>
            </a:r>
          </a:p>
          <a:p>
            <a:pPr>
              <a:lnSpc>
                <a:spcPct val="110000"/>
              </a:lnSpc>
              <a:spcAft>
                <a:spcPts val="200"/>
              </a:spcAft>
              <a:defRPr sz="1000">
                <a:solidFill>
                  <a:srgbClr val="3C3C3C"/>
                </a:solidFill>
                <a:latin typeface="Calibri"/>
              </a:defRPr>
            </a:pPr>
            <a:r>
              <a:t>Enables code reusability through inheritance, polymorphism, and encapsulation</a:t>
            </a:r>
          </a:p>
          <a:p>
            <a:pPr>
              <a:lnSpc>
                <a:spcPct val="110000"/>
              </a:lnSpc>
              <a:spcAft>
                <a:spcPts val="200"/>
              </a:spcAft>
              <a:defRPr sz="1100" b="1">
                <a:solidFill>
                  <a:srgbClr val="4678AA"/>
                </a:solidFill>
                <a:latin typeface="Calibri"/>
              </a:defRPr>
            </a:pPr>
            <a:r>
              <a:t>Robust &amp; Secure</a:t>
            </a:r>
          </a:p>
          <a:p>
            <a:pPr>
              <a:lnSpc>
                <a:spcPct val="110000"/>
              </a:lnSpc>
              <a:spcAft>
                <a:spcPts val="200"/>
              </a:spcAft>
              <a:defRPr sz="1000">
                <a:solidFill>
                  <a:srgbClr val="3C3C3C"/>
                </a:solidFill>
                <a:latin typeface="Calibri"/>
              </a:defRPr>
            </a:pPr>
            <a:r>
              <a:t>Employs automatic memory management (garbage collection)</a:t>
            </a:r>
          </a:p>
          <a:p>
            <a:pPr>
              <a:lnSpc>
                <a:spcPct val="110000"/>
              </a:lnSpc>
              <a:spcAft>
                <a:spcPts val="200"/>
              </a:spcAft>
              <a:defRPr sz="1000">
                <a:solidFill>
                  <a:srgbClr val="3C3C3C"/>
                </a:solidFill>
                <a:latin typeface="Calibri"/>
              </a:defRPr>
            </a:pPr>
            <a:r>
              <a:t>Supports exception handling for error detection and recovery</a:t>
            </a:r>
          </a:p>
          <a:p>
            <a:pPr>
              <a:lnSpc>
                <a:spcPct val="110000"/>
              </a:lnSpc>
              <a:spcAft>
                <a:spcPts val="200"/>
              </a:spcAft>
              <a:defRPr sz="1000">
                <a:solidFill>
                  <a:srgbClr val="3C3C3C"/>
                </a:solidFill>
                <a:latin typeface="Calibri"/>
              </a:defRPr>
            </a:pPr>
            <a:r>
              <a:t>Provides a secure environment with the Java Security Manager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Bytecode and JVM</a:t>
            </a:r>
          </a:p>
        </p:txBody>
      </p:sp>
      <p:pic>
        <p:nvPicPr>
          <p:cNvPr id="5" name="Picture 4" descr="image.jpg"/>
          <p:cNvPicPr>
            <a:picLocks noChangeAspect="1"/>
          </p:cNvPicPr>
          <p:nvPr/>
        </p:nvPicPr>
        <p:blipFill>
          <a:blip r:embed="rId2"/>
          <a:stretch>
            <a:fillRect/>
          </a:stretch>
        </p:blipFill>
        <p:spPr>
          <a:xfrm>
            <a:off x="5486400" y="1463039"/>
            <a:ext cx="2926080" cy="3840480"/>
          </a:xfrm>
          <a:prstGeom prst="rect">
            <a:avLst/>
          </a:prstGeom>
        </p:spPr>
      </p:pic>
      <p:sp>
        <p:nvSpPr>
          <p:cNvPr id="6" name="TextBox 5"/>
          <p:cNvSpPr txBox="1"/>
          <p:nvPr/>
        </p:nvSpPr>
        <p:spPr>
          <a:xfrm>
            <a:off x="457200" y="1463039"/>
            <a:ext cx="4389120" cy="4663440"/>
          </a:xfrm>
          <a:prstGeom prst="rect">
            <a:avLst/>
          </a:prstGeom>
          <a:noFill/>
        </p:spPr>
        <p:txBody>
          <a:bodyPr wrap="square" anchor="t">
            <a:noAutofit/>
          </a:bodyPr>
          <a:lstStyle/>
          <a:p>
            <a:pPr>
              <a:lnSpc>
                <a:spcPct val="115000"/>
              </a:lnSpc>
              <a:spcAft>
                <a:spcPts val="700"/>
              </a:spcAft>
              <a:defRPr sz="1150">
                <a:solidFill>
                  <a:srgbClr val="2D2D2D"/>
                </a:solidFill>
                <a:latin typeface="Calibri"/>
              </a:defRPr>
            </a:pPr>
            <a:r>
              <a:t>Java code is compiled to bytecode, which can run on any device with a Java Virtual Machine (JVM).</a:t>
            </a:r>
          </a:p>
          <a:p>
            <a:pPr>
              <a:lnSpc>
                <a:spcPct val="115000"/>
              </a:lnSpc>
              <a:spcAft>
                <a:spcPts val="500"/>
              </a:spcAft>
              <a:defRPr sz="1150">
                <a:solidFill>
                  <a:srgbClr val="3C3C3C"/>
                </a:solidFill>
                <a:latin typeface="Calibri"/>
              </a:defRPr>
            </a:pPr>
            <a:r>
              <a:t>The JVM translates bytecode into machine language that the host computer can understand</a:t>
            </a:r>
          </a:p>
          <a:p>
            <a:pPr>
              <a:lnSpc>
                <a:spcPct val="115000"/>
              </a:lnSpc>
              <a:spcAft>
                <a:spcPts val="500"/>
              </a:spcAft>
              <a:defRPr sz="1150">
                <a:solidFill>
                  <a:srgbClr val="3C3C3C"/>
                </a:solidFill>
                <a:latin typeface="Calibri"/>
              </a:defRPr>
            </a:pPr>
            <a:r>
              <a:t>This enables platform independence as the same bytecode can run on different operating systems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Examples of Java Applications</a:t>
            </a:r>
          </a:p>
        </p:txBody>
      </p:sp>
      <p:pic>
        <p:nvPicPr>
          <p:cNvPr id="5" name="Picture 4" descr="image.jpg"/>
          <p:cNvPicPr>
            <a:picLocks noChangeAspect="1"/>
          </p:cNvPicPr>
          <p:nvPr/>
        </p:nvPicPr>
        <p:blipFill>
          <a:blip r:embed="rId2"/>
          <a:stretch>
            <a:fillRect/>
          </a:stretch>
        </p:blipFill>
        <p:spPr>
          <a:xfrm>
            <a:off x="5486400" y="1463039"/>
            <a:ext cx="2926080" cy="3840480"/>
          </a:xfrm>
          <a:prstGeom prst="rect">
            <a:avLst/>
          </a:prstGeom>
        </p:spPr>
      </p:pic>
      <p:sp>
        <p:nvSpPr>
          <p:cNvPr id="6" name="TextBox 5"/>
          <p:cNvSpPr txBox="1"/>
          <p:nvPr/>
        </p:nvSpPr>
        <p:spPr>
          <a:xfrm>
            <a:off x="457200" y="1463039"/>
            <a:ext cx="4389120" cy="4663440"/>
          </a:xfrm>
          <a:prstGeom prst="rect">
            <a:avLst/>
          </a:prstGeom>
          <a:noFill/>
        </p:spPr>
        <p:txBody>
          <a:bodyPr wrap="square" anchor="t">
            <a:noAutofit/>
          </a:bodyPr>
          <a:lstStyle/>
          <a:p>
            <a:pPr>
              <a:lnSpc>
                <a:spcPct val="115000"/>
              </a:lnSpc>
              <a:spcAft>
                <a:spcPts val="300"/>
              </a:spcAft>
              <a:defRPr sz="1200" b="1">
                <a:solidFill>
                  <a:srgbClr val="4678AA"/>
                </a:solidFill>
                <a:latin typeface="Calibri"/>
              </a:defRPr>
            </a:pPr>
            <a:r>
              <a:t>Android Apps</a:t>
            </a:r>
          </a:p>
          <a:p>
            <a:pPr>
              <a:lnSpc>
                <a:spcPct val="115000"/>
              </a:lnSpc>
              <a:spcAft>
                <a:spcPts val="500"/>
              </a:spcAft>
              <a:defRPr sz="1050">
                <a:solidFill>
                  <a:srgbClr val="2D2D2D"/>
                </a:solidFill>
                <a:latin typeface="Calibri"/>
              </a:defRPr>
            </a:pPr>
            <a:r>
              <a:t>Java is widely used for developing mobile applications, particularly in the Android ecosystem.</a:t>
            </a:r>
          </a:p>
          <a:p>
            <a:pPr>
              <a:lnSpc>
                <a:spcPct val="115000"/>
              </a:lnSpc>
              <a:spcAft>
                <a:spcPts val="500"/>
              </a:spcAft>
              <a:defRPr sz="1050">
                <a:solidFill>
                  <a:srgbClr val="2D2D2D"/>
                </a:solidFill>
                <a:latin typeface="Calibri"/>
              </a:defRPr>
            </a:pPr>
            <a:r>
              <a:t>public class MainActivity extends Activity {</a:t>
            </a:r>
          </a:p>
          <a:p>
            <a:pPr>
              <a:lnSpc>
                <a:spcPct val="115000"/>
              </a:lnSpc>
              <a:spcAft>
                <a:spcPts val="300"/>
              </a:spcAft>
              <a:defRPr sz="1200" b="1">
                <a:solidFill>
                  <a:srgbClr val="4678AA"/>
                </a:solidFill>
                <a:latin typeface="Calibri"/>
              </a:defRPr>
            </a:pPr>
            <a:r>
              <a:t>Web Applications (JavaServer Faces, Spring Framework)</a:t>
            </a:r>
          </a:p>
          <a:p>
            <a:pPr>
              <a:lnSpc>
                <a:spcPct val="115000"/>
              </a:lnSpc>
              <a:spcAft>
                <a:spcPts val="500"/>
              </a:spcAft>
              <a:defRPr sz="1050">
                <a:solidFill>
                  <a:srgbClr val="2D2D2D"/>
                </a:solidFill>
                <a:latin typeface="Calibri"/>
              </a:defRPr>
            </a:pPr>
            <a:r>
              <a:t>Java can be used to build dynamic web pages by server-side Java technologies like JSF and Spring Framework.</a:t>
            </a:r>
          </a:p>
          <a:p>
            <a:pPr>
              <a:lnSpc>
                <a:spcPct val="115000"/>
              </a:lnSpc>
              <a:spcAft>
                <a:spcPts val="500"/>
              </a:spcAft>
              <a:defRPr sz="1050">
                <a:solidFill>
                  <a:srgbClr val="2D2D2D"/>
                </a:solidFill>
                <a:latin typeface="Calibri"/>
              </a:defRPr>
            </a:pPr>
            <a:r>
              <a:t>@ManagedBean(name = "welcome")</a:t>
            </a:r>
          </a:p>
          <a:p>
            <a:pPr>
              <a:lnSpc>
                <a:spcPct val="115000"/>
              </a:lnSpc>
              <a:spcAft>
                <a:spcPts val="500"/>
              </a:spcAft>
              <a:defRPr sz="1050">
                <a:solidFill>
                  <a:srgbClr val="2D2D2D"/>
                </a:solidFill>
                <a:latin typeface="Calibri"/>
              </a:defRPr>
            </a:pPr>
            <a:r>
              <a:t>public class Welcome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Java Libraries &amp; Frameworks</a:t>
            </a:r>
          </a:p>
        </p:txBody>
      </p:sp>
      <p:pic>
        <p:nvPicPr>
          <p:cNvPr id="5" name="Picture 4" descr="image.jpg"/>
          <p:cNvPicPr>
            <a:picLocks noChangeAspect="1"/>
          </p:cNvPicPr>
          <p:nvPr/>
        </p:nvPicPr>
        <p:blipFill>
          <a:blip r:embed="rId2"/>
          <a:stretch>
            <a:fillRect/>
          </a:stretch>
        </p:blipFill>
        <p:spPr>
          <a:xfrm>
            <a:off x="5486400" y="1463039"/>
            <a:ext cx="2926080" cy="3840480"/>
          </a:xfrm>
          <a:prstGeom prst="rect">
            <a:avLst/>
          </a:prstGeom>
        </p:spPr>
      </p:pic>
      <p:sp>
        <p:nvSpPr>
          <p:cNvPr id="6" name="TextBox 5"/>
          <p:cNvSpPr txBox="1"/>
          <p:nvPr/>
        </p:nvSpPr>
        <p:spPr>
          <a:xfrm>
            <a:off x="457200" y="1463039"/>
            <a:ext cx="4389120" cy="4663440"/>
          </a:xfrm>
          <a:prstGeom prst="rect">
            <a:avLst/>
          </a:prstGeom>
          <a:noFill/>
        </p:spPr>
        <p:txBody>
          <a:bodyPr wrap="square" anchor="t">
            <a:noAutofit/>
          </a:bodyPr>
          <a:lstStyle/>
          <a:p>
            <a:pPr>
              <a:lnSpc>
                <a:spcPct val="115000"/>
              </a:lnSpc>
              <a:spcAft>
                <a:spcPts val="500"/>
              </a:spcAft>
              <a:defRPr sz="1400" b="1">
                <a:solidFill>
                  <a:srgbClr val="4678AA"/>
                </a:solidFill>
                <a:latin typeface="Calibri"/>
              </a:defRPr>
            </a:pPr>
            <a:r>
              <a:t>Java Standard Library (JSL)</a:t>
            </a:r>
          </a:p>
          <a:p>
            <a:pPr>
              <a:lnSpc>
                <a:spcPct val="115000"/>
              </a:lnSpc>
              <a:spcAft>
                <a:spcPts val="700"/>
              </a:spcAft>
              <a:defRPr sz="1150">
                <a:solidFill>
                  <a:srgbClr val="2D2D2D"/>
                </a:solidFill>
                <a:latin typeface="Calibri"/>
              </a:defRPr>
            </a:pPr>
            <a:r>
              <a:t>Provides core functionalities like I/O operations, collections, and utilities.</a:t>
            </a:r>
          </a:p>
          <a:p>
            <a:pPr>
              <a:lnSpc>
                <a:spcPct val="115000"/>
              </a:lnSpc>
              <a:spcAft>
                <a:spcPts val="500"/>
              </a:spcAft>
              <a:defRPr sz="1400" b="1">
                <a:solidFill>
                  <a:srgbClr val="4678AA"/>
                </a:solidFill>
                <a:latin typeface="Calibri"/>
              </a:defRPr>
            </a:pPr>
            <a:r>
              <a:t>Apache Struts</a:t>
            </a:r>
          </a:p>
          <a:p>
            <a:pPr>
              <a:lnSpc>
                <a:spcPct val="115000"/>
              </a:lnSpc>
              <a:spcAft>
                <a:spcPts val="700"/>
              </a:spcAft>
              <a:defRPr sz="1150">
                <a:solidFill>
                  <a:srgbClr val="2D2D2D"/>
                </a:solidFill>
                <a:latin typeface="Calibri"/>
              </a:defRPr>
            </a:pPr>
            <a:r>
              <a:t>A popular open-source framework used for creating web applications with a focus on security and maintainability.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Conclusion</a:t>
            </a:r>
          </a:p>
        </p:txBody>
      </p:sp>
      <p:pic>
        <p:nvPicPr>
          <p:cNvPr id="5" name="Picture 4" descr="image.jpg"/>
          <p:cNvPicPr>
            <a:picLocks noChangeAspect="1"/>
          </p:cNvPicPr>
          <p:nvPr/>
        </p:nvPicPr>
        <p:blipFill>
          <a:blip r:embed="rId2"/>
          <a:stretch>
            <a:fillRect/>
          </a:stretch>
        </p:blipFill>
        <p:spPr>
          <a:xfrm>
            <a:off x="5486400" y="1463039"/>
            <a:ext cx="2926080" cy="3840480"/>
          </a:xfrm>
          <a:prstGeom prst="rect">
            <a:avLst/>
          </a:prstGeom>
        </p:spPr>
      </p:pic>
      <p:sp>
        <p:nvSpPr>
          <p:cNvPr id="6" name="TextBox 5"/>
          <p:cNvSpPr txBox="1"/>
          <p:nvPr/>
        </p:nvSpPr>
        <p:spPr>
          <a:xfrm>
            <a:off x="457200" y="1463039"/>
            <a:ext cx="4389120" cy="4663440"/>
          </a:xfrm>
          <a:prstGeom prst="rect">
            <a:avLst/>
          </a:prstGeom>
          <a:noFill/>
        </p:spPr>
        <p:txBody>
          <a:bodyPr wrap="square" anchor="t">
            <a:noAutofit/>
          </a:bodyPr>
          <a:lstStyle/>
          <a:p>
            <a:pPr>
              <a:lnSpc>
                <a:spcPct val="115000"/>
              </a:lnSpc>
              <a:spcAft>
                <a:spcPts val="900"/>
              </a:spcAft>
              <a:defRPr sz="1250">
                <a:solidFill>
                  <a:srgbClr val="2D2D2D"/>
                </a:solidFill>
                <a:latin typeface="Calibri"/>
              </a:defRPr>
            </a:pPr>
            <a:r>
              <a:t>Java's platform independence, simplicity, and rich set of libraries and frameworks make it an ideal choice for developing robust, secure, and versatile software solutions. Its wide adoption in industries such as finance, e-commerce, and...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