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26624"/>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26624"/>
          </a:solidFill>
          <a:ln>
            <a:solidFill>
              <a:srgbClr val="2266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714500"/>
            <a:ext cx="8229600" cy="1371600"/>
          </a:xfrm>
          <a:prstGeom prst="rect">
            <a:avLst/>
          </a:prstGeom>
          <a:noFill/>
        </p:spPr>
        <p:txBody>
          <a:bodyPr wrap="square">
            <a:spAutoFit/>
          </a:bodyPr>
          <a:lstStyle/>
          <a:p>
            <a:pPr algn="ctr">
              <a:lnSpc>
                <a:spcPct val="120000"/>
              </a:lnSpc>
              <a:defRPr sz="5400" b="1">
                <a:solidFill>
                  <a:srgbClr val="FFFFFF"/>
                </a:solidFill>
                <a:latin typeface="Segoe UI"/>
              </a:defRPr>
            </a:pPr>
            <a:r>
              <a:t>react</a:t>
            </a:r>
          </a:p>
        </p:txBody>
      </p:sp>
      <p:sp>
        <p:nvSpPr>
          <p:cNvPr id="4" name="TextBox 3"/>
          <p:cNvSpPr txBox="1"/>
          <p:nvPr/>
        </p:nvSpPr>
        <p:spPr>
          <a:xfrm>
            <a:off x="457200" y="3429000"/>
            <a:ext cx="8229600" cy="914400"/>
          </a:xfrm>
          <a:prstGeom prst="rect">
            <a:avLst/>
          </a:prstGeom>
          <a:noFill/>
        </p:spPr>
        <p:txBody>
          <a:bodyPr wrap="square">
            <a:spAutoFit/>
          </a:bodyPr>
          <a:lstStyle/>
          <a:p>
            <a:pPr algn="ctr">
              <a:defRPr sz="2400">
                <a:solidFill>
                  <a:srgbClr val="C8E6C8"/>
                </a:solidFill>
                <a:latin typeface="Segoe UI"/>
              </a:defRPr>
            </a:pPr>
            <a:r>
              <a:t>Introduction to ReactJS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BF5E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26624"/>
          </a:solidFill>
          <a:ln>
            <a:solidFill>
              <a:srgbClr val="2266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F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226624"/>
                </a:solidFill>
                <a:latin typeface="Segoe UI"/>
              </a:defRPr>
            </a:pPr>
            <a:r>
              <a:t>Introduction to ReactJS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1000"/>
              </a:spcAft>
              <a:defRPr sz="1800">
                <a:solidFill>
                  <a:srgbClr val="323232"/>
                </a:solidFill>
                <a:latin typeface="Segoe UI"/>
              </a:defRPr>
            </a:pPr>
            <a:r>
              <a:t>ReactJS is a JavaScript library used for building user interfaces and can be used for developing complex, interactive web and mobile applications. It was developed by Facebook (now Meta) and is maintained by Facebook and a community of developers.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BF5E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26624"/>
          </a:solidFill>
          <a:ln>
            <a:solidFill>
              <a:srgbClr val="2266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F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226624"/>
                </a:solidFill>
                <a:latin typeface="Segoe UI"/>
              </a:defRPr>
            </a:pPr>
            <a:r>
              <a:t>Key Features of ReactJS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600"/>
              </a:spcAft>
              <a:defRPr sz="1800">
                <a:solidFill>
                  <a:srgbClr val="3C3C3C"/>
                </a:solidFill>
                <a:latin typeface="Segoe UI"/>
              </a:defRPr>
            </a:pPr>
            <a:r>
              <a:t>Component-Based Architecture: ReactJS uses a component-based architecture, where the application is broken down into smaller, reusable components.</a:t>
            </a:r>
          </a:p>
          <a:p>
            <a:pPr>
              <a:lnSpc>
                <a:spcPct val="115000"/>
              </a:lnSpc>
              <a:spcAft>
                <a:spcPts val="600"/>
              </a:spcAft>
              <a:defRPr sz="1800">
                <a:solidFill>
                  <a:srgbClr val="3C3C3C"/>
                </a:solidFill>
                <a:latin typeface="Segoe UI"/>
              </a:defRPr>
            </a:pPr>
            <a:r>
              <a:t>Virtual DOM: ReactJS uses a virtual DOM (a lightweight in-memory representation of the real DOM) to optimize rendering and reduce the number of DOM mutations.</a:t>
            </a:r>
          </a:p>
          <a:p>
            <a:pPr>
              <a:lnSpc>
                <a:spcPct val="115000"/>
              </a:lnSpc>
              <a:spcAft>
                <a:spcPts val="600"/>
              </a:spcAft>
              <a:defRPr sz="1800">
                <a:solidFill>
                  <a:srgbClr val="3C3C3C"/>
                </a:solidFill>
                <a:latin typeface="Segoe UI"/>
              </a:defRPr>
            </a:pPr>
            <a:r>
              <a:t>Declarative Programming: ReactJS uses a declarative programming style, where the developer describes what the UI should look like, and ReactJS takes care of the details.</a:t>
            </a:r>
          </a:p>
          <a:p>
            <a:pPr>
              <a:lnSpc>
                <a:spcPct val="115000"/>
              </a:lnSpc>
              <a:spcAft>
                <a:spcPts val="600"/>
              </a:spcAft>
              <a:defRPr sz="1800">
                <a:solidFill>
                  <a:srgbClr val="3C3C3C"/>
                </a:solidFill>
                <a:latin typeface="Segoe UI"/>
              </a:defRPr>
            </a:pPr>
            <a:r>
              <a:t>One-Way Data Binding: ReactJS uses a one-way data binding approach, where the component's state is updated, and the UI is re-rendered accordingly.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BF5E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26624"/>
          </a:solidFill>
          <a:ln>
            <a:solidFill>
              <a:srgbClr val="2266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F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226624"/>
                </a:solidFill>
                <a:latin typeface="Segoe UI"/>
              </a:defRPr>
            </a:pPr>
            <a:r>
              <a:t>ReactJS Components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600"/>
              </a:spcAft>
              <a:defRPr sz="2000" b="1">
                <a:solidFill>
                  <a:srgbClr val="649669"/>
                </a:solidFill>
                <a:latin typeface="Segoe UI"/>
              </a:defRPr>
            </a:pPr>
            <a:r>
              <a:t>Functional Components</a:t>
            </a:r>
          </a:p>
          <a:p>
            <a:pPr>
              <a:lnSpc>
                <a:spcPct val="115000"/>
              </a:lnSpc>
              <a:spcAft>
                <a:spcPts val="800"/>
              </a:spcAft>
              <a:defRPr sz="1800">
                <a:solidFill>
                  <a:srgbClr val="323232"/>
                </a:solidFill>
                <a:latin typeface="Segoe UI"/>
              </a:defRPr>
            </a:pPr>
            <a:r>
              <a:t>Functional components are pure functions that take in props and return JSX elements. They are stateless and do not have their own lifecycle methods.</a:t>
            </a:r>
          </a:p>
          <a:p>
            <a:pPr>
              <a:lnSpc>
                <a:spcPct val="115000"/>
              </a:lnSpc>
              <a:spcAft>
                <a:spcPts val="600"/>
              </a:spcAft>
              <a:defRPr sz="2000" b="1">
                <a:solidFill>
                  <a:srgbClr val="649669"/>
                </a:solidFill>
                <a:latin typeface="Segoe UI"/>
              </a:defRPr>
            </a:pPr>
            <a:r>
              <a:t>Class Components</a:t>
            </a:r>
          </a:p>
          <a:p>
            <a:pPr>
              <a:lnSpc>
                <a:spcPct val="115000"/>
              </a:lnSpc>
              <a:spcAft>
                <a:spcPts val="800"/>
              </a:spcAft>
              <a:defRPr sz="1800">
                <a:solidFill>
                  <a:srgbClr val="323232"/>
                </a:solidFill>
                <a:latin typeface="Segoe UI"/>
              </a:defRPr>
            </a:pPr>
            <a:r>
              <a:t>Class components are classes that extend the React.Component class. They have their own lifecycle methods and can have their own state.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BF5E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26624"/>
          </a:solidFill>
          <a:ln>
            <a:solidFill>
              <a:srgbClr val="2266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F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226624"/>
                </a:solidFill>
                <a:latin typeface="Segoe UI"/>
              </a:defRPr>
            </a:pPr>
            <a:r>
              <a:t>ReactJS Lifecycle Methods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600"/>
              </a:spcAft>
              <a:defRPr sz="1800">
                <a:solidFill>
                  <a:srgbClr val="3C3C3C"/>
                </a:solidFill>
                <a:latin typeface="Segoe UI"/>
              </a:defRPr>
            </a:pPr>
            <a:r>
              <a:t>Mounting: The process of rendering a component to the DOM for the first time.</a:t>
            </a:r>
          </a:p>
          <a:p>
            <a:pPr>
              <a:lnSpc>
                <a:spcPct val="115000"/>
              </a:lnSpc>
              <a:spcAft>
                <a:spcPts val="600"/>
              </a:spcAft>
              <a:defRPr sz="1800">
                <a:solidFill>
                  <a:srgbClr val="3C3C3C"/>
                </a:solidFill>
                <a:latin typeface="Segoe UI"/>
              </a:defRPr>
            </a:pPr>
            <a:r>
              <a:t>Updating: The process of re-rendering a component when its state or props change.</a:t>
            </a:r>
          </a:p>
          <a:p>
            <a:pPr>
              <a:lnSpc>
                <a:spcPct val="115000"/>
              </a:lnSpc>
              <a:spcAft>
                <a:spcPts val="600"/>
              </a:spcAft>
              <a:defRPr sz="1800">
                <a:solidFill>
                  <a:srgbClr val="3C3C3C"/>
                </a:solidFill>
                <a:latin typeface="Segoe UI"/>
              </a:defRPr>
            </a:pPr>
            <a:r>
              <a:t>Unmounting: The process of removing a component from the DOM.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BF5E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26624"/>
          </a:solidFill>
          <a:ln>
            <a:solidFill>
              <a:srgbClr val="2266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F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226624"/>
                </a:solidFill>
                <a:latin typeface="Segoe UI"/>
              </a:defRPr>
            </a:pPr>
            <a:r>
              <a:t>ReactJS State and Props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800"/>
              </a:spcAft>
              <a:defRPr sz="1800">
                <a:solidFill>
                  <a:srgbClr val="3C3C3C"/>
                </a:solidFill>
                <a:latin typeface="Segoe UI"/>
              </a:defRPr>
            </a:pPr>
            <a:r>
              <a:t>State: The state of a component is an object that stores the component's data.</a:t>
            </a:r>
          </a:p>
          <a:p>
            <a:pPr>
              <a:lnSpc>
                <a:spcPct val="115000"/>
              </a:lnSpc>
              <a:spcAft>
                <a:spcPts val="800"/>
              </a:spcAft>
              <a:defRPr sz="1800">
                <a:solidFill>
                  <a:srgbClr val="3C3C3C"/>
                </a:solidFill>
                <a:latin typeface="Segoe UI"/>
              </a:defRPr>
            </a:pPr>
            <a:r>
              <a:t>Props: Props are short for "properties" and are read-only values passed from a parent component to a child component.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