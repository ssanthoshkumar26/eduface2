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33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3399"/>
          </a:solidFill>
          <a:ln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Times New Roman"/>
              </a:defRPr>
            </a:pPr>
            <a:r>
              <a:t>CCNA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C8F0"/>
                </a:solidFill>
                <a:latin typeface="Times New Roman"/>
              </a:defRPr>
            </a:pPr>
            <a:r>
              <a:t>Title Slide: CCNA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3399"/>
          </a:solidFill>
          <a:ln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E6D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63399"/>
                </a:solidFill>
                <a:latin typeface="Times New Roman"/>
              </a:defRPr>
            </a:pPr>
            <a:r>
              <a:t>Title Slide: CCNA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414141"/>
                </a:solidFill>
                <a:latin typeface="Times New Roman"/>
              </a:defRPr>
            </a:pPr>
            <a:r>
              <a:t>Title Slide: CCNA Overview</a:t>
            </a:r>
          </a:p>
          <a:p>
            <a:pPr>
              <a:spcAft>
                <a:spcPts val="600"/>
              </a:spcAft>
              <a:defRPr sz="1200">
                <a:solidFill>
                  <a:srgbClr val="414141"/>
                </a:solidFill>
                <a:latin typeface="Times New Roman"/>
              </a:defRPr>
            </a:pPr>
            <a:r>
              <a:t>Slide 1: Introduction</a:t>
            </a:r>
          </a:p>
          <a:p>
            <a:pPr>
              <a:spcAft>
                <a:spcPts val="600"/>
              </a:spcAft>
              <a:defRPr sz="1200">
                <a:solidFill>
                  <a:srgbClr val="414141"/>
                </a:solidFill>
                <a:latin typeface="Times New Roman"/>
              </a:defRPr>
            </a:pPr>
            <a:r>
              <a:t>^^^^^^^^^^^^^^^^^^^^^^^</a:t>
            </a:r>
          </a:p>
          <a:p>
            <a:pPr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Certification program offered by Cisco Systems</a:t>
            </a:r>
          </a:p>
          <a:p>
            <a:pPr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Associate-level certification for networking professionals</a:t>
            </a:r>
          </a:p>
          <a:p>
            <a:pPr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Designed to validate a candidate's knowledge and skills in foundational network infrastructure and...</a:t>
            </a:r>
          </a:p>
          <a:p>
            <a:pPr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Prepares individuals for roles such as network administrator, support engineer, and network...</a:t>
            </a:r>
          </a:p>
          <a:p>
            <a:pPr>
              <a:spcAft>
                <a:spcPts val="600"/>
              </a:spcAft>
              <a:defRPr sz="1200">
                <a:solidFill>
                  <a:srgbClr val="414141"/>
                </a:solidFill>
                <a:latin typeface="Times New Roman"/>
              </a:defRPr>
            </a:pPr>
            <a:r>
              <a:t>Slide 2: Prerequisites and Exam Structure</a:t>
            </a:r>
          </a:p>
          <a:p>
            <a:pPr>
              <a:spcAft>
                <a:spcPts val="600"/>
              </a:spcAft>
              <a:defRPr sz="1200">
                <a:solidFill>
                  <a:srgbClr val="414141"/>
                </a:solidFill>
                <a:latin typeface="Times New Roman"/>
              </a:defRPr>
            </a:pPr>
            <a:r>
              <a:t>^^^^^^^^^^^^^^^^^^^^^^^^^^^^^^^^^^^^^^^^^^</a:t>
            </a:r>
          </a:p>
          <a:p>
            <a:pPr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No specific prerequisites are required to take the CCNA exam, but knowledge of basic networking...</a:t>
            </a:r>
          </a:p>
          <a:p>
            <a:pPr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The exam consists of two parts: CCNA Routing and Switching (200-125) and CCNA Security (210-250)</a:t>
            </a:r>
          </a:p>
          <a:p>
            <a:pPr lvl="1"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Both are performance-based and consist of a combination of multiple-choice, drag-and-drop, and...</a:t>
            </a:r>
          </a:p>
          <a:p>
            <a:pPr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Achieving both certifications leads to the award of the complete CCNA certification</a:t>
            </a:r>
          </a:p>
          <a:p>
            <a:pPr>
              <a:spcAft>
                <a:spcPts val="600"/>
              </a:spcAft>
              <a:defRPr sz="1200">
                <a:solidFill>
                  <a:srgbClr val="414141"/>
                </a:solidFill>
                <a:latin typeface="Times New Roman"/>
              </a:defRPr>
            </a:pPr>
            <a:r>
              <a:t>Slide 3: CCNA Routing and Switching (200-125) Focus Areas</a:t>
            </a:r>
          </a:p>
          <a:p>
            <a:pPr>
              <a:spcAft>
                <a:spcPts val="600"/>
              </a:spcAft>
              <a:defRPr sz="1200">
                <a:solidFill>
                  <a:srgbClr val="414141"/>
                </a:solidFill>
                <a:latin typeface="Times New Roman"/>
              </a:defRPr>
            </a:pPr>
            <a:r>
              <a:t>^^^^^^^^^^^^^^^^^^^^^^^^^^^^^^^^^^^^^^^^^^^^^^^^^^^^^^^^^^^</a:t>
            </a:r>
          </a:p>
          <a:p>
            <a:pPr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Network Fundamentals</a:t>
            </a:r>
          </a:p>
          <a:p>
            <a:pPr lvl="1"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OSI model, IP addressing, subnetting, VLANs, routing protocols</a:t>
            </a:r>
          </a:p>
          <a:p>
            <a:pPr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LAN Switching Technologies</a:t>
            </a:r>
          </a:p>
          <a:p>
            <a:pPr lvl="1"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Spanning Tree Protocol (STP), Rapid Spanning Tree Protocol (RSTP), VLAN Trunking Protocol (VTP)</a:t>
            </a:r>
          </a:p>
          <a:p>
            <a:pPr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WAN Technologies</a:t>
            </a:r>
          </a:p>
          <a:p>
            <a:pPr lvl="1"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Point-to-Point links, Frame Relay, Serial HDLC, PPP, ATM, and Ethernet WANs</a:t>
            </a:r>
          </a:p>
          <a:p>
            <a:pPr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Infrastructure Services</a:t>
            </a:r>
          </a:p>
          <a:p>
            <a:pPr lvl="1"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DHCP, DNS, SNMP, TACACS+, RADIUS, and NetFlow</a:t>
            </a:r>
          </a:p>
          <a:p>
            <a:pPr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Infrastructure Security</a:t>
            </a:r>
          </a:p>
          <a:p>
            <a:pPr lvl="1"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ACLs, VPN technologies (IPSec and SSL), network security monitoring, and secure device management</a:t>
            </a:r>
          </a:p>
          <a:p>
            <a:pPr>
              <a:spcAft>
                <a:spcPts val="600"/>
              </a:spcAft>
              <a:defRPr sz="1200">
                <a:solidFill>
                  <a:srgbClr val="414141"/>
                </a:solidFill>
                <a:latin typeface="Times New Roman"/>
              </a:defRPr>
            </a:pPr>
            <a:r>
              <a:t>Slide 4: CCNA Security (210-250) Focus Areas</a:t>
            </a:r>
          </a:p>
          <a:p>
            <a:pPr>
              <a:spcAft>
                <a:spcPts val="600"/>
              </a:spcAft>
              <a:defRPr sz="1200">
                <a:solidFill>
                  <a:srgbClr val="414141"/>
                </a:solidFill>
                <a:latin typeface="Times New Roman"/>
              </a:defRPr>
            </a:pPr>
            <a:r>
              <a:t>^^^^^^^^^^^^^^^^^^^^^^^^^^^^^^^^^^^^^^^^^^^^</a:t>
            </a:r>
          </a:p>
          <a:p>
            <a:pPr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Network Security Concepts and Policies</a:t>
            </a:r>
          </a:p>
          <a:p>
            <a:pPr lvl="1"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Threats, risks, and vulnerabilities, security policies, network segmentation, and access control...</a:t>
            </a:r>
          </a:p>
          <a:p>
            <a:pPr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Secure Remote Access</a:t>
            </a:r>
          </a:p>
          <a:p>
            <a:pPr lvl="1"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Authentication methods, VPN technologies (IPSec, SSL), dial-up connections, remote access server...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3399"/>
          </a:solidFill>
          <a:ln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E6D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63399"/>
                </a:solidFill>
                <a:latin typeface="Times New Roman"/>
              </a:defRPr>
            </a:pPr>
            <a:r>
              <a:t>Slide 5: Benefits of CCNA Certification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Identity Services and Infrastructure</a:t>
            </a:r>
          </a:p>
          <a:p>
            <a:pPr lvl="1"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TACACS+, RADIUS, and Kerberos, 802.1X authentication, network access control</a:t>
            </a:r>
          </a:p>
          <a:p>
            <a:pPr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Secure Connectivity</a:t>
            </a:r>
          </a:p>
          <a:p>
            <a:pPr lvl="1"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Firewalls, zone-based firewall (ZFW), Virtual Private Networks (VPNs), DMVPN, and IPsec VPN...</a:t>
            </a:r>
          </a:p>
          <a:p>
            <a:pPr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Intrusion Prevention Systems (IPS) and Advanced Security Solutions</a:t>
            </a:r>
          </a:p>
          <a:p>
            <a:pPr lvl="1"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IPS sensors, IOS Firewall, Cisco ASA firewall, Flexible Packet Matching (FPM), and Network-Based...</a:t>
            </a:r>
          </a:p>
          <a:p>
            <a:pPr>
              <a:spcAft>
                <a:spcPts val="600"/>
              </a:spcAft>
              <a:defRPr sz="1200">
                <a:solidFill>
                  <a:srgbClr val="414141"/>
                </a:solidFill>
                <a:latin typeface="Times New Roman"/>
              </a:defRPr>
            </a:pPr>
            <a:r>
              <a:t>Slide 5: Benefits of CCNA Certification</a:t>
            </a:r>
          </a:p>
          <a:p>
            <a:pPr>
              <a:spcAft>
                <a:spcPts val="600"/>
              </a:spcAft>
              <a:defRPr sz="1200">
                <a:solidFill>
                  <a:srgbClr val="414141"/>
                </a:solidFill>
                <a:latin typeface="Times New Roman"/>
              </a:defRPr>
            </a:pPr>
            <a:r>
              <a:t>^^^^^^^^^^^^^^^^^^^^^^^^^^^^^^^^^^^^^^^</a:t>
            </a:r>
          </a:p>
          <a:p>
            <a:pPr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Validates skills in designing, implementing, operating, and troubleshooting a medium-sized network</a:t>
            </a:r>
          </a:p>
          <a:p>
            <a:pPr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Increases credibility as a networking professional</a:t>
            </a:r>
          </a:p>
          <a:p>
            <a:pPr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Enables better job opportunities and career advancement</a:t>
            </a:r>
          </a:p>
          <a:p>
            <a:pPr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Provides a foundation for further Cisco certifications such as CCNP, CCIE, and CCDE</a:t>
            </a:r>
          </a:p>
          <a:p>
            <a:pPr>
              <a:spcAft>
                <a:spcPts val="600"/>
              </a:spcAft>
              <a:defRPr sz="1200">
                <a:solidFill>
                  <a:srgbClr val="414141"/>
                </a:solidFill>
                <a:latin typeface="Times New Roman"/>
              </a:defRPr>
            </a:pPr>
            <a:r>
              <a:t>Slide 6: Practical Examples of CCNA Skills</a:t>
            </a:r>
          </a:p>
          <a:p>
            <a:pPr>
              <a:spcAft>
                <a:spcPts val="600"/>
              </a:spcAft>
              <a:defRPr sz="1200">
                <a:solidFill>
                  <a:srgbClr val="414141"/>
                </a:solidFill>
                <a:latin typeface="Times New Roman"/>
              </a:defRPr>
            </a:pPr>
            <a:r>
              <a:t>^^^^^^^^^^^^^^^^^^^^^^^^^^^^^^^^^^^^^^^^^^^^</a:t>
            </a:r>
          </a:p>
          <a:p>
            <a:pPr>
              <a:spcAft>
                <a:spcPts val="600"/>
              </a:spcAft>
              <a:defRPr sz="1200">
                <a:solidFill>
                  <a:srgbClr val="414141"/>
                </a:solidFill>
                <a:latin typeface="Times New Roman"/>
              </a:defRPr>
            </a:pPr>
            <a:r>
              <a:t>Example 1: Subnetting and VLAN Configuration on a Cisco Switch</a:t>
            </a:r>
          </a:p>
          <a:p>
            <a:pPr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Configure a subnet for a network with 250 hosts</a:t>
            </a:r>
          </a:p>
          <a:p>
            <a:pPr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Create VLANs for departments in an organization (e.g., Sales, IT, HR)</a:t>
            </a:r>
          </a:p>
          <a:p>
            <a:pPr>
              <a:spcAft>
                <a:spcPts val="600"/>
              </a:spcAft>
              <a:defRPr sz="1200">
                <a:solidFill>
                  <a:srgbClr val="414141"/>
                </a:solidFill>
                <a:latin typeface="Times New Roman"/>
              </a:defRPr>
            </a:pPr>
            <a:r>
              <a:t>Example 2: Router Static and Dynamic Routing</a:t>
            </a:r>
          </a:p>
          <a:p>
            <a:pPr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Configure static routes on a router for connecting to remote networks</a:t>
            </a:r>
          </a:p>
          <a:p>
            <a:pPr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Implement dynamic routing protocols such as RIP and OSPF to share routing information between...</a:t>
            </a:r>
          </a:p>
          <a:p>
            <a:pPr>
              <a:spcAft>
                <a:spcPts val="600"/>
              </a:spcAft>
              <a:defRPr sz="1200">
                <a:solidFill>
                  <a:srgbClr val="414141"/>
                </a:solidFill>
                <a:latin typeface="Times New Roman"/>
              </a:defRPr>
            </a:pPr>
            <a:r>
              <a:t>Slide 7: Summary and Additional Resources</a:t>
            </a:r>
          </a:p>
          <a:p>
            <a:pPr>
              <a:spcAft>
                <a:spcPts val="600"/>
              </a:spcAft>
              <a:defRPr sz="1200">
                <a:solidFill>
                  <a:srgbClr val="414141"/>
                </a:solidFill>
                <a:latin typeface="Times New Roman"/>
              </a:defRPr>
            </a:pPr>
            <a:r>
              <a:t>^^^^^^^^^^^^^^^^^^^^^^^^^^^^^^^^^^^^^^^^^^</a:t>
            </a:r>
          </a:p>
          <a:p>
            <a:pPr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CCNA is a valuable certification for networking professionals looking to validate their...</a:t>
            </a:r>
          </a:p>
          <a:p>
            <a:pPr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The exam consists of two parts: Routing and Switching (200-125) and Security (210-250)</a:t>
            </a:r>
          </a:p>
          <a:p>
            <a:pPr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Practical examples include subnetting, VLANs, static routing, and dynamic routing protocols</a:t>
            </a:r>
          </a:p>
          <a:p>
            <a:pPr>
              <a:spcAft>
                <a:spcPts val="300"/>
              </a:spcAft>
              <a:defRPr sz="1200">
                <a:solidFill>
                  <a:srgbClr val="4B4B4B"/>
                </a:solidFill>
                <a:latin typeface="Times New Roman"/>
              </a:defRPr>
            </a:pPr>
            <a:r>
              <a:t>Additional resources can be found on Cisco's website for study materials, practice exams, and...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